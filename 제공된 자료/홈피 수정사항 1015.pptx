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2" r:id="rId3"/>
    <p:sldId id="258" r:id="rId4"/>
    <p:sldId id="260" r:id="rId5"/>
    <p:sldId id="257" r:id="rId6"/>
    <p:sldId id="261" r:id="rId7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9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6073F31-E3CC-4EEF-A19E-3FA24B9366C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A722CAE-C087-4DAF-91A0-3D2111247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08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22CAE-C087-4DAF-91A0-3D21112474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6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0184F-3032-7B2C-BE6E-3B1C23B3A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3922D8-D968-3D91-CFEF-96AB4294E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6FCDE5-BD36-B427-7226-6325AA779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E17727-2330-55D5-8E62-E54BC748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07CBC-4AD9-3240-7DB2-2F7F723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78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4ECB4-2633-0257-66D7-CEBBCA32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BE5AD1-861E-39AD-345B-004F67968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EF83EA-7852-624E-047B-777233FA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5F806-0FFD-9690-CF97-EF0B790D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51D6F4-641B-596C-064E-3658DEA6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369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31997-0F54-141B-D831-6F3AFBD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9DD416-4B8F-F6F5-D869-74D0555B2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7A6DF-3BC1-9115-FAD9-6D7F9445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A38D72-93FE-ACA6-2B3B-0E59A5E8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524177-A1A4-24DC-C2A0-570A5DF5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84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A7D7D-6A7D-1FBA-E29B-ED66E154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72EDF-9B4D-DB42-6876-2D7E5D2BB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DC3687-EEB4-B457-D30A-05E96E0BB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763843-849D-0993-1F41-7998CD41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F76983-E847-ED92-EFCE-147A169A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BFA659-9EA8-3E12-0E74-D61A761C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78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90213-A771-A59D-493B-9D754E69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54F351-7CBF-0370-2684-EFE9C166F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3F72FC-A6D7-22FF-5EBC-85464707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56761C-D5F9-E049-EF4E-31B55A9E7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BC5B0D-9277-C11C-C5F7-88658A51E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DF0A50-C187-E74B-DD6A-7D4B733F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00D15D-419B-8685-C074-CCE5EB647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DDF3AB-73E7-DE2F-27E5-D835B184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4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A75F8-ECA3-4261-E2F5-B33AF5676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D7DC2E-CFE6-F63E-CF1F-A9853F242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021737-DD25-9CDD-A546-E99FEB68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1A036C-A24D-488A-2D06-7384CEE1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51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19BB2B-B4FA-F2ED-95E7-ED752DF6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60B284-9A54-44EB-EA4A-B8F1673B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843213-DBC0-2B8B-8208-64856BD2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38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A9724-FED1-D4B1-4391-FCFB78D8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615D1-D264-8CBE-79D6-F5D3C71EF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1AC888-7B12-79BB-A374-B009612AF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A70A9-6AC9-96AF-1A7D-4FD0AD25E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0710F5-62CF-81ED-AA64-74874B4B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468D51-25B7-E0D5-EDB1-E3CF3F93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50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D9580C-4255-F708-E625-1DACB08D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3714F6-EBEF-B152-3A6D-0868D2E13E0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8EDDF4-B33E-4E83-75C8-D1069F715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E568C8-BB07-649B-75F5-2A0D4B41B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46A433-2990-17ED-3604-12A458F5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944977-B8FD-8740-8E85-EBFDDFBF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90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AF652-3045-5D41-53EB-6BAAA97C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9BB73A-95CF-DA8A-ABD9-792890132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9ACBC8-C542-0E05-8F26-E729B3B4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70DDCC-68E1-CC45-3D6C-80E4A06B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146FA-9C64-CEB6-0191-9525F44D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0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0977FE-BA4F-0728-DFEC-1EB1C124C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7F583-20E0-AD51-197B-B030E4EA6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D8B50B-B45F-3B5C-1215-6AD605DD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87C02-BD21-C568-D91C-8BDA41FC0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A2A9BF-B8DB-5FA5-0F9A-AC2DB7C8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60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9B2D30-A2A0-4213-EA18-D6B27D303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3F0BDD-267E-D89B-457B-427855874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E2ED4B-1C9B-1141-C4E6-99F4D4E06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B9979-6A38-4824-B646-46CFB4A05F51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3601C4-52D0-A593-51C0-A9A43622E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8D9203-C6A4-5942-9D23-C3EB11E40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F748F-CC16-4051-83F2-9CDB2829E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88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85D5-1860-4453-D681-EB2EA1DEA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E12E28-0459-0344-3698-29CECA494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84" y="820850"/>
            <a:ext cx="4410691" cy="23339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E269DF-8CB0-11EE-AFFA-0D30D6832379}"/>
              </a:ext>
            </a:extLst>
          </p:cNvPr>
          <p:cNvSpPr txBox="1"/>
          <p:nvPr/>
        </p:nvSpPr>
        <p:spPr>
          <a:xfrm>
            <a:off x="1938130" y="934278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115CF-262B-FF33-E307-00D6E370F3C4}"/>
              </a:ext>
            </a:extLst>
          </p:cNvPr>
          <p:cNvSpPr txBox="1"/>
          <p:nvPr/>
        </p:nvSpPr>
        <p:spPr>
          <a:xfrm>
            <a:off x="5538268" y="1392103"/>
            <a:ext cx="5585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창립일 날짜 삭제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&lt;10&gt; </a:t>
            </a:r>
            <a:r>
              <a:rPr lang="ko-KR" altLang="en-US" sz="1600" dirty="0">
                <a:solidFill>
                  <a:srgbClr val="FF0000"/>
                </a:solidFill>
              </a:rPr>
              <a:t>으로 표기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577484-9AB2-E610-F3B7-713F7C962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014" y="3429000"/>
            <a:ext cx="3575952" cy="2773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FC5C22-0219-2CD2-5C07-EECCD9942FC1}"/>
              </a:ext>
            </a:extLst>
          </p:cNvPr>
          <p:cNvSpPr txBox="1"/>
          <p:nvPr/>
        </p:nvSpPr>
        <p:spPr>
          <a:xfrm>
            <a:off x="1610138" y="3757231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321DF-80A8-BFA3-DF11-B087B56CBA12}"/>
              </a:ext>
            </a:extLst>
          </p:cNvPr>
          <p:cNvSpPr txBox="1"/>
          <p:nvPr/>
        </p:nvSpPr>
        <p:spPr>
          <a:xfrm>
            <a:off x="1610137" y="4979963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197667-1FF2-9F3D-3B96-4B27646A021C}"/>
              </a:ext>
            </a:extLst>
          </p:cNvPr>
          <p:cNvSpPr txBox="1"/>
          <p:nvPr/>
        </p:nvSpPr>
        <p:spPr>
          <a:xfrm>
            <a:off x="1610136" y="5585168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59FE07-D6A7-E682-83F1-DECBBE4018F1}"/>
              </a:ext>
            </a:extLst>
          </p:cNvPr>
          <p:cNvSpPr txBox="1"/>
          <p:nvPr/>
        </p:nvSpPr>
        <p:spPr>
          <a:xfrm>
            <a:off x="1610135" y="6037150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3EB61-382D-B35D-A018-5268A2DAA7BF}"/>
              </a:ext>
            </a:extLst>
          </p:cNvPr>
          <p:cNvSpPr txBox="1"/>
          <p:nvPr/>
        </p:nvSpPr>
        <p:spPr>
          <a:xfrm>
            <a:off x="1983201" y="4897191"/>
            <a:ext cx="7280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10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F7A5B-7F72-22F2-5219-4EF3C1AF32D1}"/>
              </a:ext>
            </a:extLst>
          </p:cNvPr>
          <p:cNvSpPr txBox="1"/>
          <p:nvPr/>
        </p:nvSpPr>
        <p:spPr>
          <a:xfrm>
            <a:off x="1991001" y="5913399"/>
            <a:ext cx="7280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10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66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38B4-4401-A319-ACF9-521305D5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BC87DF-21D1-3B5E-BCFC-6470A3F09B40}"/>
              </a:ext>
            </a:extLst>
          </p:cNvPr>
          <p:cNvSpPr txBox="1"/>
          <p:nvPr/>
        </p:nvSpPr>
        <p:spPr>
          <a:xfrm>
            <a:off x="1204393" y="428178"/>
            <a:ext cx="558579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안녕하십니까</a:t>
            </a:r>
            <a:r>
              <a:rPr lang="en-US" altLang="ko-KR" sz="1600" dirty="0"/>
              <a:t>?</a:t>
            </a:r>
          </a:p>
          <a:p>
            <a:r>
              <a:rPr lang="en-US" altLang="ko-KR" sz="1600" dirty="0"/>
              <a:t>(</a:t>
            </a:r>
            <a:r>
              <a:rPr lang="ko-KR" altLang="en-US" sz="1600" dirty="0"/>
              <a:t>주</a:t>
            </a:r>
            <a:r>
              <a:rPr lang="en-US" altLang="ko-KR" sz="1600" dirty="0"/>
              <a:t>)</a:t>
            </a:r>
            <a:r>
              <a:rPr lang="ko-KR" altLang="en-US" sz="1600" dirty="0"/>
              <a:t>코리아데이터월드 대표이사 </a:t>
            </a:r>
            <a:r>
              <a:rPr lang="ko-KR" altLang="en-US" sz="1600" dirty="0" err="1"/>
              <a:t>김근지입니다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저는 </a:t>
            </a:r>
            <a:r>
              <a:rPr lang="en-US" altLang="ko-KR" sz="1600" dirty="0"/>
              <a:t>2007</a:t>
            </a:r>
            <a:r>
              <a:rPr lang="ko-KR" altLang="en-US" sz="1600" dirty="0"/>
              <a:t>년 리서치 회사에서 리서치 연구원으로 시작해</a:t>
            </a:r>
            <a:r>
              <a:rPr lang="en-US" altLang="ko-KR" sz="1600" dirty="0"/>
              <a:t>, </a:t>
            </a:r>
          </a:p>
          <a:p>
            <a:r>
              <a:rPr lang="ko-KR" altLang="en-US" sz="1600" dirty="0"/>
              <a:t>창업 </a:t>
            </a:r>
            <a:r>
              <a:rPr lang="en-US" altLang="ko-KR" sz="1600" dirty="0"/>
              <a:t>10</a:t>
            </a:r>
            <a:r>
              <a:rPr lang="ko-KR" altLang="en-US" sz="1600" dirty="0"/>
              <a:t>년을 맞은 </a:t>
            </a:r>
            <a:r>
              <a:rPr lang="en-US" altLang="ko-KR" sz="1600" dirty="0"/>
              <a:t>2026</a:t>
            </a:r>
            <a:r>
              <a:rPr lang="ko-KR" altLang="en-US" sz="1600" dirty="0"/>
              <a:t>년 지금까지 </a:t>
            </a:r>
            <a:r>
              <a:rPr lang="en-US" altLang="ko-KR" sz="1600" dirty="0"/>
              <a:t>20</a:t>
            </a:r>
            <a:r>
              <a:rPr lang="ko-KR" altLang="en-US" sz="1600" dirty="0"/>
              <a:t>년간 조사 현장에서 일해 왔습니다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/>
              <a:t>주</a:t>
            </a:r>
            <a:r>
              <a:rPr lang="en-US" altLang="ko-KR" sz="1600" dirty="0"/>
              <a:t>)</a:t>
            </a:r>
            <a:r>
              <a:rPr lang="ko-KR" altLang="en-US" sz="1600" dirty="0"/>
              <a:t>코리아데이터월드는 정부기관</a:t>
            </a:r>
            <a:r>
              <a:rPr lang="en-US" altLang="ko-KR" sz="1600" dirty="0"/>
              <a:t>, </a:t>
            </a:r>
            <a:r>
              <a:rPr lang="ko-KR" altLang="en-US" sz="1600" dirty="0"/>
              <a:t>지자체</a:t>
            </a:r>
            <a:r>
              <a:rPr lang="en-US" altLang="ko-KR" sz="1600" dirty="0"/>
              <a:t>, </a:t>
            </a:r>
            <a:r>
              <a:rPr lang="ko-KR" altLang="en-US" sz="1600" dirty="0"/>
              <a:t>공공기관</a:t>
            </a:r>
            <a:r>
              <a:rPr lang="en-US" altLang="ko-KR" sz="1600" dirty="0"/>
              <a:t>, </a:t>
            </a:r>
            <a:r>
              <a:rPr lang="ko-KR" altLang="en-US" sz="1600" dirty="0"/>
              <a:t>연구기관</a:t>
            </a:r>
            <a:r>
              <a:rPr lang="en-US" altLang="ko-KR" sz="1600" dirty="0"/>
              <a:t>, </a:t>
            </a:r>
            <a:r>
              <a:rPr lang="ko-KR" altLang="en-US" sz="1600" dirty="0"/>
              <a:t>대학</a:t>
            </a:r>
            <a:r>
              <a:rPr lang="en-US" altLang="ko-KR" sz="1600" dirty="0"/>
              <a:t>, </a:t>
            </a:r>
            <a:r>
              <a:rPr lang="ko-KR" altLang="en-US" sz="1600" dirty="0"/>
              <a:t>기업 등과 함께</a:t>
            </a:r>
          </a:p>
          <a:p>
            <a:r>
              <a:rPr lang="ko-KR" altLang="en-US" sz="1600" dirty="0"/>
              <a:t>다양한 과업을 수행하고 있습니다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과업마다 최적의 방법을 찾아 데이터를 확보하고 분석하여</a:t>
            </a:r>
            <a:r>
              <a:rPr lang="en-US" altLang="ko-KR" sz="1600" dirty="0"/>
              <a:t>, </a:t>
            </a:r>
          </a:p>
          <a:p>
            <a:r>
              <a:rPr lang="ko-KR" altLang="en-US" sz="1600" dirty="0"/>
              <a:t>고객이 바라는 연구 성과</a:t>
            </a:r>
            <a:r>
              <a:rPr lang="en-US" altLang="ko-KR" sz="1600" dirty="0"/>
              <a:t>, </a:t>
            </a:r>
            <a:r>
              <a:rPr lang="ko-KR" altLang="en-US" sz="1600" dirty="0"/>
              <a:t>정책 개발</a:t>
            </a:r>
            <a:r>
              <a:rPr lang="en-US" altLang="ko-KR" sz="1600" dirty="0"/>
              <a:t>, </a:t>
            </a:r>
            <a:r>
              <a:rPr lang="ko-KR" altLang="en-US" sz="1600" dirty="0"/>
              <a:t>매출 향상에 기여하고자 합니다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신뢰할 수 있는 데이터와 통찰력 있는 분석을 위해</a:t>
            </a:r>
            <a:r>
              <a:rPr lang="en-US" altLang="ko-KR" sz="1600" dirty="0"/>
              <a:t>, </a:t>
            </a:r>
          </a:p>
          <a:p>
            <a:r>
              <a:rPr lang="ko-KR" altLang="en-US" sz="1600" dirty="0"/>
              <a:t>설문 설계의 완결성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수집의 윤리성</a:t>
            </a:r>
            <a:r>
              <a:rPr lang="en-US" altLang="ko-KR" sz="1600" dirty="0"/>
              <a:t>, </a:t>
            </a:r>
            <a:r>
              <a:rPr lang="ko-KR" altLang="en-US" sz="1600" dirty="0"/>
              <a:t>분석의 전문성 </a:t>
            </a:r>
          </a:p>
          <a:p>
            <a:r>
              <a:rPr lang="ko-KR" altLang="en-US" sz="1600" dirty="0"/>
              <a:t>무엇 하나 놓치지 않고 철저히 지키고 있습니다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항상 고객의 입장에서 생각하며</a:t>
            </a:r>
            <a:r>
              <a:rPr lang="en-US" altLang="ko-KR" sz="1600" dirty="0"/>
              <a:t>,</a:t>
            </a:r>
          </a:p>
          <a:p>
            <a:r>
              <a:rPr lang="ko-KR" altLang="en-US" sz="1600" dirty="0"/>
              <a:t>다음 과업에서도 함께할 수 있는 파트너가 되겠습니다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감사합니다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/>
              <a:t>주</a:t>
            </a:r>
            <a:r>
              <a:rPr lang="en-US" altLang="ko-KR" sz="1600" dirty="0"/>
              <a:t>)</a:t>
            </a:r>
            <a:r>
              <a:rPr lang="ko-KR" altLang="en-US" sz="1600" dirty="0"/>
              <a:t>코리아데이터월드 대표이사 </a:t>
            </a:r>
            <a:r>
              <a:rPr lang="ko-KR" altLang="en-US" sz="1600" dirty="0" err="1"/>
              <a:t>김근지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9E543-EA7B-74BF-5A92-D1FA488CE726}"/>
              </a:ext>
            </a:extLst>
          </p:cNvPr>
          <p:cNvSpPr txBox="1"/>
          <p:nvPr/>
        </p:nvSpPr>
        <p:spPr>
          <a:xfrm>
            <a:off x="1204393" y="89624"/>
            <a:ext cx="305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대표 인사말 수정</a:t>
            </a:r>
          </a:p>
        </p:txBody>
      </p:sp>
    </p:spTree>
    <p:extLst>
      <p:ext uri="{BB962C8B-B14F-4D97-AF65-F5344CB8AC3E}">
        <p14:creationId xmlns:p14="http://schemas.microsoft.com/office/powerpoint/2010/main" val="121667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934446A6-5397-40D6-2740-48F2EBB3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18" y="333736"/>
            <a:ext cx="5362677" cy="2425644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C0773F3-EFA4-5E44-2734-C329E51A0E03}"/>
              </a:ext>
            </a:extLst>
          </p:cNvPr>
          <p:cNvCxnSpPr/>
          <p:nvPr/>
        </p:nvCxnSpPr>
        <p:spPr>
          <a:xfrm>
            <a:off x="1123122" y="685801"/>
            <a:ext cx="4969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AEEE1E0-9943-AAF1-97AD-4FEDDDD6A302}"/>
              </a:ext>
            </a:extLst>
          </p:cNvPr>
          <p:cNvSpPr txBox="1"/>
          <p:nvPr/>
        </p:nvSpPr>
        <p:spPr>
          <a:xfrm>
            <a:off x="1620078" y="516524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21" name="화살표: 오른쪽으로 구부러짐 20">
            <a:extLst>
              <a:ext uri="{FF2B5EF4-FFF2-40B4-BE49-F238E27FC236}">
                <a16:creationId xmlns:a16="http://schemas.microsoft.com/office/drawing/2014/main" id="{67340681-7520-0491-F4AF-85D0D1E3D370}"/>
              </a:ext>
            </a:extLst>
          </p:cNvPr>
          <p:cNvSpPr/>
          <p:nvPr/>
        </p:nvSpPr>
        <p:spPr>
          <a:xfrm flipV="1">
            <a:off x="859218" y="685801"/>
            <a:ext cx="228600" cy="537025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8801A7-B89B-907D-0CF9-CB8BF7D4FB50}"/>
              </a:ext>
            </a:extLst>
          </p:cNvPr>
          <p:cNvSpPr txBox="1"/>
          <p:nvPr/>
        </p:nvSpPr>
        <p:spPr>
          <a:xfrm>
            <a:off x="174558" y="785036"/>
            <a:ext cx="608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위로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92FF08-0917-25BA-1E93-212DD073927B}"/>
              </a:ext>
            </a:extLst>
          </p:cNvPr>
          <p:cNvSpPr txBox="1"/>
          <p:nvPr/>
        </p:nvSpPr>
        <p:spPr>
          <a:xfrm>
            <a:off x="4048538" y="247700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경력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431F2DF-C3DC-9405-1528-DC91802B3DB6}"/>
              </a:ext>
            </a:extLst>
          </p:cNvPr>
          <p:cNvCxnSpPr/>
          <p:nvPr/>
        </p:nvCxnSpPr>
        <p:spPr>
          <a:xfrm>
            <a:off x="4396408" y="516681"/>
            <a:ext cx="96079" cy="159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80F94B39-9665-165F-5F42-A9F0F780E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22" y="3111445"/>
            <a:ext cx="10120208" cy="3049808"/>
          </a:xfrm>
          <a:prstGeom prst="rect">
            <a:avLst/>
          </a:prstGeom>
        </p:spPr>
      </p:pic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2A15D9E-B4A4-0956-E253-AB390B51C3A2}"/>
              </a:ext>
            </a:extLst>
          </p:cNvPr>
          <p:cNvCxnSpPr/>
          <p:nvPr/>
        </p:nvCxnSpPr>
        <p:spPr>
          <a:xfrm>
            <a:off x="1451113" y="3372979"/>
            <a:ext cx="4969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E9995E7-5FCB-BCF4-F5D9-6A260A130E5B}"/>
              </a:ext>
            </a:extLst>
          </p:cNvPr>
          <p:cNvSpPr txBox="1"/>
          <p:nvPr/>
        </p:nvSpPr>
        <p:spPr>
          <a:xfrm>
            <a:off x="1948069" y="3203702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삭제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60F6CE8-A4CF-FBF5-3010-9655E5ED5A1E}"/>
              </a:ext>
            </a:extLst>
          </p:cNvPr>
          <p:cNvCxnSpPr/>
          <p:nvPr/>
        </p:nvCxnSpPr>
        <p:spPr>
          <a:xfrm>
            <a:off x="4943061" y="3372979"/>
            <a:ext cx="4969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4B1C09E-251F-688B-EA89-AEF694B61B93}"/>
              </a:ext>
            </a:extLst>
          </p:cNvPr>
          <p:cNvSpPr txBox="1"/>
          <p:nvPr/>
        </p:nvSpPr>
        <p:spPr>
          <a:xfrm>
            <a:off x="5440017" y="3203702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삭제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142BF67-1448-9A1E-3174-0890C6D67DF1}"/>
              </a:ext>
            </a:extLst>
          </p:cNvPr>
          <p:cNvCxnSpPr/>
          <p:nvPr/>
        </p:nvCxnSpPr>
        <p:spPr>
          <a:xfrm>
            <a:off x="8524460" y="3372979"/>
            <a:ext cx="4969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B670212-5C72-7923-297B-2075EEB2D862}"/>
              </a:ext>
            </a:extLst>
          </p:cNvPr>
          <p:cNvSpPr txBox="1"/>
          <p:nvPr/>
        </p:nvSpPr>
        <p:spPr>
          <a:xfrm>
            <a:off x="9021416" y="3203702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삭제</a:t>
            </a:r>
          </a:p>
        </p:txBody>
      </p:sp>
      <p:sp>
        <p:nvSpPr>
          <p:cNvPr id="36" name="화살표: 오른쪽으로 구부러짐 35">
            <a:extLst>
              <a:ext uri="{FF2B5EF4-FFF2-40B4-BE49-F238E27FC236}">
                <a16:creationId xmlns:a16="http://schemas.microsoft.com/office/drawing/2014/main" id="{D0F5E0E4-99A4-96FB-9BFC-F155293499D9}"/>
              </a:ext>
            </a:extLst>
          </p:cNvPr>
          <p:cNvSpPr/>
          <p:nvPr/>
        </p:nvSpPr>
        <p:spPr>
          <a:xfrm flipV="1">
            <a:off x="1182757" y="3429000"/>
            <a:ext cx="228600" cy="537025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E54767-7FF9-18F7-D14D-DA16CF70AC5E}"/>
              </a:ext>
            </a:extLst>
          </p:cNvPr>
          <p:cNvSpPr txBox="1"/>
          <p:nvPr/>
        </p:nvSpPr>
        <p:spPr>
          <a:xfrm>
            <a:off x="498097" y="3528235"/>
            <a:ext cx="608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위로</a:t>
            </a:r>
          </a:p>
        </p:txBody>
      </p:sp>
      <p:sp>
        <p:nvSpPr>
          <p:cNvPr id="38" name="화살표: 오른쪽으로 구부러짐 37">
            <a:extLst>
              <a:ext uri="{FF2B5EF4-FFF2-40B4-BE49-F238E27FC236}">
                <a16:creationId xmlns:a16="http://schemas.microsoft.com/office/drawing/2014/main" id="{7E9DF63E-9A2E-C6AC-CD87-2F798BF994DE}"/>
              </a:ext>
            </a:extLst>
          </p:cNvPr>
          <p:cNvSpPr/>
          <p:nvPr/>
        </p:nvSpPr>
        <p:spPr>
          <a:xfrm flipV="1">
            <a:off x="4714461" y="3429000"/>
            <a:ext cx="228600" cy="537025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2679EE-3120-8970-43EF-A9CB908AB7A2}"/>
              </a:ext>
            </a:extLst>
          </p:cNvPr>
          <p:cNvSpPr txBox="1"/>
          <p:nvPr/>
        </p:nvSpPr>
        <p:spPr>
          <a:xfrm>
            <a:off x="4029801" y="3528235"/>
            <a:ext cx="608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위로</a:t>
            </a:r>
          </a:p>
        </p:txBody>
      </p:sp>
      <p:sp>
        <p:nvSpPr>
          <p:cNvPr id="40" name="화살표: 오른쪽으로 구부러짐 39">
            <a:extLst>
              <a:ext uri="{FF2B5EF4-FFF2-40B4-BE49-F238E27FC236}">
                <a16:creationId xmlns:a16="http://schemas.microsoft.com/office/drawing/2014/main" id="{A0ADF019-F895-4354-8931-1D244F15B917}"/>
              </a:ext>
            </a:extLst>
          </p:cNvPr>
          <p:cNvSpPr/>
          <p:nvPr/>
        </p:nvSpPr>
        <p:spPr>
          <a:xfrm flipV="1">
            <a:off x="8246165" y="3429000"/>
            <a:ext cx="228600" cy="537025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4F0FDC-011E-3ECA-FD75-69192FE761DA}"/>
              </a:ext>
            </a:extLst>
          </p:cNvPr>
          <p:cNvSpPr txBox="1"/>
          <p:nvPr/>
        </p:nvSpPr>
        <p:spPr>
          <a:xfrm>
            <a:off x="7561505" y="3528235"/>
            <a:ext cx="608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위로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28F599-2BC5-2997-7BE7-1AE2CEDAAD76}"/>
              </a:ext>
            </a:extLst>
          </p:cNvPr>
          <p:cNvSpPr txBox="1"/>
          <p:nvPr/>
        </p:nvSpPr>
        <p:spPr>
          <a:xfrm>
            <a:off x="6188764" y="346754"/>
            <a:ext cx="59369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김근지</a:t>
            </a:r>
            <a:r>
              <a:rPr lang="ko-KR" altLang="en-US" sz="1600" dirty="0">
                <a:solidFill>
                  <a:srgbClr val="FF0000"/>
                </a:solidFill>
              </a:rPr>
              <a:t> 대표 추가</a:t>
            </a:r>
            <a:endParaRPr lang="en-US" altLang="ko-KR" sz="1600" dirty="0">
              <a:solidFill>
                <a:srgbClr val="FF0000"/>
              </a:solidFill>
            </a:endParaRPr>
          </a:p>
          <a:p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ko-KR" altLang="en-US" sz="1600" dirty="0">
                <a:solidFill>
                  <a:srgbClr val="FF0000"/>
                </a:solidFill>
              </a:rPr>
              <a:t>이력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  <a:r>
              <a:rPr lang="ko-KR" altLang="en-US" sz="1600" dirty="0">
                <a:solidFill>
                  <a:srgbClr val="FF0000"/>
                </a:solidFill>
              </a:rPr>
              <a:t>청와대 정기 여론조사 담당 연구원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  <a:r>
              <a:rPr lang="ko-KR" altLang="en-US" sz="1600" dirty="0">
                <a:solidFill>
                  <a:srgbClr val="FF0000"/>
                </a:solidFill>
              </a:rPr>
              <a:t>공공기관 </a:t>
            </a:r>
            <a:r>
              <a:rPr lang="en-US" altLang="ko-KR" sz="1600" dirty="0">
                <a:solidFill>
                  <a:srgbClr val="FF0000"/>
                </a:solidFill>
              </a:rPr>
              <a:t>PCSI PM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  <a:r>
              <a:rPr lang="ko-KR" altLang="en-US" sz="1600" dirty="0">
                <a:solidFill>
                  <a:srgbClr val="FF0000"/>
                </a:solidFill>
              </a:rPr>
              <a:t>공공기관 정책 포럼 다수 참여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  <a:r>
              <a:rPr lang="ko-KR" altLang="en-US" sz="1600" dirty="0">
                <a:solidFill>
                  <a:srgbClr val="FF0000"/>
                </a:solidFill>
              </a:rPr>
              <a:t>공공기관 정책 평가 및 자문위원</a:t>
            </a:r>
            <a:endParaRPr lang="en-US" altLang="ko-KR" sz="1600" dirty="0">
              <a:solidFill>
                <a:srgbClr val="FF0000"/>
              </a:solidFill>
            </a:endParaRPr>
          </a:p>
          <a:p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ko-KR" altLang="en-US" sz="1600" dirty="0">
                <a:solidFill>
                  <a:srgbClr val="FF0000"/>
                </a:solidFill>
              </a:rPr>
              <a:t>대외 </a:t>
            </a:r>
            <a:r>
              <a:rPr lang="en-US" altLang="ko-KR" sz="1600" dirty="0">
                <a:solidFill>
                  <a:srgbClr val="FF0000"/>
                </a:solidFill>
              </a:rPr>
              <a:t>-</a:t>
            </a:r>
            <a:r>
              <a:rPr lang="ko-KR" altLang="en-US" sz="1600" dirty="0">
                <a:solidFill>
                  <a:srgbClr val="FF0000"/>
                </a:solidFill>
              </a:rPr>
              <a:t> </a:t>
            </a:r>
            <a:r>
              <a:rPr lang="en-US" altLang="ko-KR" sz="1600" dirty="0">
                <a:solidFill>
                  <a:srgbClr val="FF0000"/>
                </a:solidFill>
              </a:rPr>
              <a:t>92</a:t>
            </a:r>
            <a:r>
              <a:rPr lang="ko-KR" altLang="en-US" sz="1600" dirty="0">
                <a:solidFill>
                  <a:srgbClr val="FF0000"/>
                </a:solidFill>
              </a:rPr>
              <a:t>기 한국경제인협회 최고경영자과정 </a:t>
            </a:r>
            <a:r>
              <a:rPr lang="en-US" altLang="ko-KR" sz="1600" dirty="0">
                <a:solidFill>
                  <a:srgbClr val="FF0000"/>
                </a:solidFill>
              </a:rPr>
              <a:t>(2026</a:t>
            </a:r>
            <a:r>
              <a:rPr lang="ko-KR" altLang="en-US" sz="1600" dirty="0">
                <a:solidFill>
                  <a:srgbClr val="FF0000"/>
                </a:solidFill>
              </a:rPr>
              <a:t>년 </a:t>
            </a:r>
            <a:r>
              <a:rPr lang="en-US" altLang="ko-KR" sz="1600" dirty="0">
                <a:solidFill>
                  <a:srgbClr val="FF0000"/>
                </a:solidFill>
              </a:rPr>
              <a:t>9</a:t>
            </a:r>
            <a:r>
              <a:rPr lang="ko-KR" altLang="en-US" sz="1600" dirty="0">
                <a:solidFill>
                  <a:srgbClr val="FF0000"/>
                </a:solidFill>
              </a:rPr>
              <a:t>월 </a:t>
            </a:r>
            <a:r>
              <a:rPr lang="en-US" altLang="ko-KR" sz="1600" dirty="0">
                <a:solidFill>
                  <a:srgbClr val="FF0000"/>
                </a:solidFill>
              </a:rPr>
              <a:t>~)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DF88A1-2968-5A0E-D103-BE78D404CC4E}"/>
              </a:ext>
            </a:extLst>
          </p:cNvPr>
          <p:cNvSpPr txBox="1"/>
          <p:nvPr/>
        </p:nvSpPr>
        <p:spPr>
          <a:xfrm>
            <a:off x="1948069" y="6174764"/>
            <a:ext cx="3616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클릭 시 뒷장의 자격증 팝업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C99E48-B08A-2C45-D312-B04988BB7AD7}"/>
              </a:ext>
            </a:extLst>
          </p:cNvPr>
          <p:cNvSpPr txBox="1"/>
          <p:nvPr/>
        </p:nvSpPr>
        <p:spPr>
          <a:xfrm>
            <a:off x="5144018" y="4009029"/>
            <a:ext cx="655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경력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CF0CD50-8DF5-966B-BF6A-C0303C363C03}"/>
              </a:ext>
            </a:extLst>
          </p:cNvPr>
          <p:cNvCxnSpPr>
            <a:cxnSpLocks/>
          </p:cNvCxnSpPr>
          <p:nvPr/>
        </p:nvCxnSpPr>
        <p:spPr>
          <a:xfrm>
            <a:off x="5691239" y="4138552"/>
            <a:ext cx="96079" cy="159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BBA2F9D-1684-83D7-48F1-E1BA8E0DDB69}"/>
              </a:ext>
            </a:extLst>
          </p:cNvPr>
          <p:cNvSpPr txBox="1"/>
          <p:nvPr/>
        </p:nvSpPr>
        <p:spPr>
          <a:xfrm>
            <a:off x="1699591" y="3998623"/>
            <a:ext cx="1292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리서치경력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F0E4F0-4C88-9117-ADF5-0434E375C199}"/>
              </a:ext>
            </a:extLst>
          </p:cNvPr>
          <p:cNvSpPr txBox="1"/>
          <p:nvPr/>
        </p:nvSpPr>
        <p:spPr>
          <a:xfrm>
            <a:off x="8474765" y="4009665"/>
            <a:ext cx="1292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리서치경력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31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0E2D-0592-5B98-DF1A-CAEA5799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14641773-22BD-8985-97B1-6193A18C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22" y="447762"/>
            <a:ext cx="10120208" cy="30498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684BB8-B23D-36A1-D0DF-E5B12BE393BF}"/>
              </a:ext>
            </a:extLst>
          </p:cNvPr>
          <p:cNvSpPr txBox="1"/>
          <p:nvPr/>
        </p:nvSpPr>
        <p:spPr>
          <a:xfrm>
            <a:off x="802327" y="3737544"/>
            <a:ext cx="16426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이력추가 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  <a:r>
              <a:rPr lang="ko-KR" altLang="en-US" sz="1600" dirty="0">
                <a:solidFill>
                  <a:srgbClr val="FF0000"/>
                </a:solidFill>
              </a:rPr>
              <a:t>추후 전달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  <a:endParaRPr lang="ko-KR" altLang="en-US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</a:p>
          <a:p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8C582-C437-E487-19EB-C2AA00B4EF3F}"/>
              </a:ext>
            </a:extLst>
          </p:cNvPr>
          <p:cNvSpPr txBox="1"/>
          <p:nvPr/>
        </p:nvSpPr>
        <p:spPr>
          <a:xfrm>
            <a:off x="4714461" y="3737544"/>
            <a:ext cx="36443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00B050"/>
                </a:solidFill>
              </a:rPr>
              <a:t>이력추가 </a:t>
            </a:r>
            <a:endParaRPr lang="en-US" altLang="ko-KR" sz="1600" dirty="0">
              <a:solidFill>
                <a:srgbClr val="00B050"/>
              </a:solidFill>
            </a:endParaRPr>
          </a:p>
          <a:p>
            <a:r>
              <a:rPr lang="en-US" altLang="ko-KR" sz="1600" dirty="0">
                <a:solidFill>
                  <a:srgbClr val="00B050"/>
                </a:solidFill>
              </a:rPr>
              <a:t>- </a:t>
            </a:r>
            <a:r>
              <a:rPr lang="ko-KR" altLang="en-US" sz="1600" dirty="0" err="1">
                <a:solidFill>
                  <a:srgbClr val="00B050"/>
                </a:solidFill>
              </a:rPr>
              <a:t>건기식</a:t>
            </a:r>
            <a:r>
              <a:rPr lang="en-US" altLang="ko-KR" sz="1600" dirty="0">
                <a:solidFill>
                  <a:srgbClr val="00B050"/>
                </a:solidFill>
              </a:rPr>
              <a:t>(</a:t>
            </a:r>
            <a:r>
              <a:rPr lang="ko-KR" altLang="en-US" sz="1600" dirty="0" err="1">
                <a:solidFill>
                  <a:srgbClr val="00B050"/>
                </a:solidFill>
              </a:rPr>
              <a:t>하이뮨</a:t>
            </a:r>
            <a:r>
              <a:rPr lang="en-US" altLang="ko-KR" sz="1600" dirty="0">
                <a:solidFill>
                  <a:srgbClr val="00B050"/>
                </a:solidFill>
              </a:rPr>
              <a:t>)</a:t>
            </a:r>
            <a:r>
              <a:rPr lang="ko-KR" altLang="en-US" sz="1600" dirty="0">
                <a:solidFill>
                  <a:srgbClr val="00B050"/>
                </a:solidFill>
              </a:rPr>
              <a:t> 런칭 캠페인 기획</a:t>
            </a:r>
            <a:endParaRPr lang="en-US" altLang="ko-KR" sz="1600" dirty="0">
              <a:solidFill>
                <a:srgbClr val="00B050"/>
              </a:solidFill>
            </a:endParaRPr>
          </a:p>
          <a:p>
            <a:r>
              <a:rPr lang="en-US" altLang="ko-KR" sz="1600" dirty="0">
                <a:solidFill>
                  <a:srgbClr val="00B050"/>
                </a:solidFill>
              </a:rPr>
              <a:t>- </a:t>
            </a:r>
            <a:r>
              <a:rPr lang="ko-KR" altLang="en-US" sz="1600" dirty="0">
                <a:solidFill>
                  <a:srgbClr val="00B050"/>
                </a:solidFill>
              </a:rPr>
              <a:t>의약품</a:t>
            </a:r>
            <a:r>
              <a:rPr lang="en-US" altLang="ko-KR" sz="1600" dirty="0">
                <a:solidFill>
                  <a:srgbClr val="00B050"/>
                </a:solidFill>
              </a:rPr>
              <a:t>(</a:t>
            </a:r>
            <a:r>
              <a:rPr lang="ko-KR" altLang="en-US" sz="1600" dirty="0" err="1">
                <a:solidFill>
                  <a:srgbClr val="00B050"/>
                </a:solidFill>
              </a:rPr>
              <a:t>아로나민</a:t>
            </a:r>
            <a:r>
              <a:rPr lang="en-US" altLang="ko-KR" sz="1600" dirty="0">
                <a:solidFill>
                  <a:srgbClr val="00B050"/>
                </a:solidFill>
              </a:rPr>
              <a:t>) </a:t>
            </a:r>
            <a:r>
              <a:rPr lang="ko-KR" altLang="en-US" sz="1600" dirty="0">
                <a:solidFill>
                  <a:srgbClr val="00B050"/>
                </a:solidFill>
              </a:rPr>
              <a:t>연간 소비자 조사 </a:t>
            </a:r>
            <a:endParaRPr lang="en-US" altLang="ko-KR" sz="1600" dirty="0">
              <a:solidFill>
                <a:srgbClr val="00B050"/>
              </a:solidFill>
            </a:endParaRPr>
          </a:p>
          <a:p>
            <a:r>
              <a:rPr lang="en-US" altLang="ko-KR" sz="1600" dirty="0">
                <a:solidFill>
                  <a:srgbClr val="00B050"/>
                </a:solidFill>
              </a:rPr>
              <a:t>- </a:t>
            </a:r>
            <a:r>
              <a:rPr lang="ko-KR" altLang="en-US" sz="1600" dirty="0">
                <a:solidFill>
                  <a:srgbClr val="00B050"/>
                </a:solidFill>
              </a:rPr>
              <a:t>정치지형 조사 및 경선 조사 참여</a:t>
            </a:r>
          </a:p>
          <a:p>
            <a:r>
              <a:rPr lang="en-US" altLang="ko-KR" sz="1600" dirty="0">
                <a:solidFill>
                  <a:srgbClr val="00B050"/>
                </a:solidFill>
              </a:rPr>
              <a:t>- </a:t>
            </a:r>
            <a:r>
              <a:rPr lang="ko-KR" altLang="en-US" sz="1600" dirty="0">
                <a:solidFill>
                  <a:srgbClr val="00B050"/>
                </a:solidFill>
              </a:rPr>
              <a:t>공공기관 </a:t>
            </a:r>
            <a:r>
              <a:rPr lang="en-US" altLang="ko-KR" sz="1600" dirty="0">
                <a:solidFill>
                  <a:srgbClr val="00B050"/>
                </a:solidFill>
              </a:rPr>
              <a:t>PCSI </a:t>
            </a:r>
            <a:r>
              <a:rPr lang="ko-KR" altLang="en-US" sz="1600" dirty="0">
                <a:solidFill>
                  <a:srgbClr val="00B050"/>
                </a:solidFill>
              </a:rPr>
              <a:t>수행</a:t>
            </a:r>
            <a:endParaRPr lang="en-US" altLang="ko-KR" sz="1600" dirty="0">
              <a:solidFill>
                <a:srgbClr val="00B050"/>
              </a:solidFill>
            </a:endParaRPr>
          </a:p>
          <a:p>
            <a:endParaRPr lang="en-US" altLang="ko-KR" sz="16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956DC-9CC8-4140-738A-6D3C5FFCC764}"/>
              </a:ext>
            </a:extLst>
          </p:cNvPr>
          <p:cNvSpPr txBox="1"/>
          <p:nvPr/>
        </p:nvSpPr>
        <p:spPr>
          <a:xfrm>
            <a:off x="8732611" y="3648091"/>
            <a:ext cx="16426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이력추가 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  <a:r>
              <a:rPr lang="ko-KR" altLang="en-US" sz="1600" dirty="0">
                <a:solidFill>
                  <a:srgbClr val="FF0000"/>
                </a:solidFill>
              </a:rPr>
              <a:t>추후 전달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  <a:endParaRPr lang="ko-KR" altLang="en-US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- </a:t>
            </a:r>
          </a:p>
          <a:p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22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DD24-0621-1C54-AACF-714D0EFB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85A93F-8366-9939-E12E-409A5A047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598" y="3818902"/>
            <a:ext cx="1992303" cy="26988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43D9262-2313-2815-A9B5-A34C0B062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503" y="3818902"/>
            <a:ext cx="2000616" cy="26988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90A557A-F92D-471A-86F3-C328C2B422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965" y="730108"/>
            <a:ext cx="2031096" cy="269889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0D67229-8E62-95FA-A0D3-51EFF06CEA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157" y="3818902"/>
            <a:ext cx="1986761" cy="269889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BF91371-E904-514C-3E2C-B13FBD827C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386" y="3818902"/>
            <a:ext cx="2036638" cy="269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9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11673-4EC7-75FC-7A42-7B35EFD9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FDA1E2-83BA-BB58-E0FA-243B79232E07}"/>
              </a:ext>
            </a:extLst>
          </p:cNvPr>
          <p:cNvSpPr txBox="1"/>
          <p:nvPr/>
        </p:nvSpPr>
        <p:spPr>
          <a:xfrm>
            <a:off x="583924" y="441483"/>
            <a:ext cx="609765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1. 인문학 분야</a:t>
            </a:r>
          </a:p>
          <a:p>
            <a:r>
              <a:rPr lang="ko-KR" altLang="en-US" dirty="0" err="1"/>
              <a:t>김갑년</a:t>
            </a:r>
            <a:r>
              <a:rPr lang="ko-KR" altLang="en-US" dirty="0"/>
              <a:t> 교수님</a:t>
            </a:r>
          </a:p>
          <a:p>
            <a:r>
              <a:rPr lang="ko-KR" altLang="en-US" dirty="0"/>
              <a:t>전) 고려대학교 독어독문학과 교수</a:t>
            </a:r>
          </a:p>
          <a:p>
            <a:r>
              <a:rPr lang="ko-KR" altLang="en-US" dirty="0" err="1"/>
              <a:t>운강</a:t>
            </a:r>
            <a:r>
              <a:rPr lang="ko-KR" altLang="en-US" dirty="0"/>
              <a:t> </a:t>
            </a:r>
            <a:r>
              <a:rPr lang="ko-KR" altLang="en-US" dirty="0" err="1"/>
              <a:t>이강년</a:t>
            </a:r>
            <a:r>
              <a:rPr lang="ko-KR" altLang="en-US" dirty="0"/>
              <a:t> 선생 외손</a:t>
            </a:r>
          </a:p>
          <a:p>
            <a:endParaRPr lang="ko-KR" altLang="en-US" dirty="0"/>
          </a:p>
          <a:p>
            <a:r>
              <a:rPr lang="ko-KR" altLang="en-US" dirty="0"/>
              <a:t>최현우 교수님</a:t>
            </a:r>
          </a:p>
          <a:p>
            <a:r>
              <a:rPr lang="ko-KR" altLang="en-US" dirty="0"/>
              <a:t>군산대학교 </a:t>
            </a:r>
            <a:r>
              <a:rPr lang="ko-KR" altLang="ko-KR" dirty="0"/>
              <a:t>역사학과</a:t>
            </a:r>
            <a:r>
              <a:rPr lang="en-US" altLang="ko-KR" dirty="0"/>
              <a:t> </a:t>
            </a:r>
            <a:r>
              <a:rPr lang="ko-KR" altLang="en-US" dirty="0"/>
              <a:t>교수</a:t>
            </a:r>
          </a:p>
          <a:p>
            <a:endParaRPr lang="ko-KR" altLang="en-US" dirty="0"/>
          </a:p>
          <a:p>
            <a:r>
              <a:rPr lang="ko-KR" altLang="en-US" dirty="0"/>
              <a:t>2. 산림 및 </a:t>
            </a:r>
            <a:r>
              <a:rPr lang="ko-KR" altLang="en-US" dirty="0" err="1"/>
              <a:t>수생태</a:t>
            </a:r>
            <a:r>
              <a:rPr lang="ko-KR" altLang="en-US" dirty="0"/>
              <a:t> 분야</a:t>
            </a:r>
          </a:p>
          <a:p>
            <a:endParaRPr lang="en-US" altLang="ko-KR" dirty="0"/>
          </a:p>
          <a:p>
            <a:r>
              <a:rPr lang="ko-KR" altLang="en-US" dirty="0" err="1"/>
              <a:t>신효중</a:t>
            </a:r>
            <a:r>
              <a:rPr lang="ko-KR" altLang="en-US" dirty="0"/>
              <a:t> 교수님</a:t>
            </a:r>
            <a:endParaRPr lang="en-US" altLang="ko-KR" dirty="0"/>
          </a:p>
          <a:p>
            <a:r>
              <a:rPr lang="ko-KR" altLang="en-US" dirty="0"/>
              <a:t>강원대학교 </a:t>
            </a:r>
            <a:r>
              <a:rPr lang="ko-KR" altLang="ko-KR" dirty="0"/>
              <a:t>농업자원경제학과</a:t>
            </a:r>
            <a:endParaRPr lang="en-US" altLang="ko-KR" dirty="0"/>
          </a:p>
          <a:p>
            <a:r>
              <a:rPr lang="ko-KR" altLang="en-US" dirty="0"/>
              <a:t>명예교수</a:t>
            </a:r>
          </a:p>
          <a:p>
            <a:endParaRPr lang="ko-KR" altLang="en-US" dirty="0"/>
          </a:p>
          <a:p>
            <a:r>
              <a:rPr lang="ko-KR" altLang="en-US" dirty="0" err="1"/>
              <a:t>전만식</a:t>
            </a:r>
            <a:r>
              <a:rPr lang="ko-KR" altLang="en-US" dirty="0"/>
              <a:t> 교수님</a:t>
            </a:r>
          </a:p>
          <a:p>
            <a:r>
              <a:rPr lang="ko-KR" altLang="en-US" dirty="0"/>
              <a:t>강원대학교 객원 교수</a:t>
            </a:r>
          </a:p>
          <a:p>
            <a:endParaRPr lang="ko-KR" altLang="en-US" dirty="0"/>
          </a:p>
          <a:p>
            <a:r>
              <a:rPr lang="ko-KR" altLang="en-US" dirty="0" err="1"/>
              <a:t>김동억</a:t>
            </a:r>
            <a:r>
              <a:rPr lang="ko-KR" altLang="en-US" dirty="0"/>
              <a:t> 박사님</a:t>
            </a:r>
            <a:endParaRPr lang="en-US" altLang="ko-KR" dirty="0"/>
          </a:p>
          <a:p>
            <a:r>
              <a:rPr lang="ko-KR" altLang="ko-KR" dirty="0"/>
              <a:t>한국수생태학회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ko-KR" altLang="en-US" dirty="0" err="1"/>
              <a:t>황길순</a:t>
            </a:r>
            <a:r>
              <a:rPr lang="ko-KR" altLang="en-US" dirty="0"/>
              <a:t> 박사</a:t>
            </a:r>
            <a:endParaRPr lang="en-US" altLang="ko-KR" dirty="0"/>
          </a:p>
          <a:p>
            <a:r>
              <a:rPr lang="ko-KR" altLang="en-US" dirty="0"/>
              <a:t>건국대 환경보건학과 교수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07EE3-9A6A-85B5-6D78-10E767DCB3FE}"/>
              </a:ext>
            </a:extLst>
          </p:cNvPr>
          <p:cNvSpPr txBox="1"/>
          <p:nvPr/>
        </p:nvSpPr>
        <p:spPr>
          <a:xfrm>
            <a:off x="4393095" y="441483"/>
            <a:ext cx="609765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  <a:p>
            <a:r>
              <a:rPr lang="ko-KR" altLang="en-US" dirty="0"/>
              <a:t>3. 행정 분야</a:t>
            </a:r>
          </a:p>
          <a:p>
            <a:r>
              <a:rPr lang="ko-KR" altLang="en-US" dirty="0"/>
              <a:t>박상철 교수님</a:t>
            </a:r>
          </a:p>
          <a:p>
            <a:r>
              <a:rPr lang="ko-KR" altLang="en-US" dirty="0"/>
              <a:t>영남대학교 행정학과 교수</a:t>
            </a:r>
          </a:p>
          <a:p>
            <a:endParaRPr lang="ko-KR" altLang="en-US" dirty="0"/>
          </a:p>
          <a:p>
            <a:r>
              <a:rPr lang="ko-KR" altLang="en-US" dirty="0"/>
              <a:t>4. 정치/경영 분야</a:t>
            </a:r>
          </a:p>
          <a:p>
            <a:r>
              <a:rPr lang="ko-KR" altLang="en-US" dirty="0"/>
              <a:t>김광용 교수님</a:t>
            </a:r>
          </a:p>
          <a:p>
            <a:r>
              <a:rPr lang="ko-KR" altLang="en-US" dirty="0"/>
              <a:t>숭실대학교 경영학부 석좌교수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김영수 교수님</a:t>
            </a:r>
          </a:p>
          <a:p>
            <a:r>
              <a:rPr lang="ko-KR" altLang="en-US" dirty="0"/>
              <a:t>서강대학교 정치외교학과 명예교수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4. 의</a:t>
            </a:r>
            <a:r>
              <a:rPr lang="en-US" altLang="ko-KR" dirty="0"/>
              <a:t>/</a:t>
            </a:r>
            <a:r>
              <a:rPr lang="ko-KR" altLang="en-US" dirty="0"/>
              <a:t>약학 분야</a:t>
            </a:r>
          </a:p>
          <a:p>
            <a:r>
              <a:rPr lang="ko-KR" altLang="en-US" dirty="0"/>
              <a:t>최인성 원장</a:t>
            </a:r>
          </a:p>
          <a:p>
            <a:r>
              <a:rPr lang="ko-KR" altLang="en-US" dirty="0"/>
              <a:t>전) 강릉시 치과의사협회 회장</a:t>
            </a:r>
          </a:p>
          <a:p>
            <a:endParaRPr lang="en-US" altLang="ko-KR" dirty="0"/>
          </a:p>
          <a:p>
            <a:r>
              <a:rPr lang="ko-KR" altLang="en-US" dirty="0" err="1"/>
              <a:t>김자용</a:t>
            </a:r>
            <a:r>
              <a:rPr lang="ko-KR" altLang="en-US" dirty="0"/>
              <a:t> 약사</a:t>
            </a:r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657995-F1CA-F1A9-5AE3-DCF07B8A900C}"/>
              </a:ext>
            </a:extLst>
          </p:cNvPr>
          <p:cNvSpPr txBox="1"/>
          <p:nvPr/>
        </p:nvSpPr>
        <p:spPr>
          <a:xfrm>
            <a:off x="8239126" y="441483"/>
            <a:ext cx="360831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800" dirty="0"/>
          </a:p>
          <a:p>
            <a:r>
              <a:rPr lang="ko-KR" altLang="en-US" sz="1800" dirty="0"/>
              <a:t>5. 법률 분야</a:t>
            </a:r>
          </a:p>
          <a:p>
            <a:r>
              <a:rPr lang="ko-KR" altLang="en-US" sz="1800" dirty="0" err="1"/>
              <a:t>조형래</a:t>
            </a:r>
            <a:r>
              <a:rPr lang="ko-KR" altLang="en-US" sz="1800" dirty="0"/>
              <a:t> 변호사</a:t>
            </a:r>
            <a:endParaRPr lang="en-US" altLang="ko-KR" sz="1800" dirty="0"/>
          </a:p>
          <a:p>
            <a:endParaRPr lang="en-US" altLang="ko-KR" dirty="0"/>
          </a:p>
          <a:p>
            <a:endParaRPr lang="ko-KR" altLang="en-US" sz="1800" dirty="0"/>
          </a:p>
          <a:p>
            <a:r>
              <a:rPr lang="ko-KR" altLang="en-US" sz="1800" dirty="0" err="1"/>
              <a:t>조자룡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행정사</a:t>
            </a:r>
            <a:endParaRPr lang="en-US" altLang="ko-KR" sz="1800" dirty="0"/>
          </a:p>
          <a:p>
            <a:r>
              <a:rPr lang="ko-KR" altLang="en-US" dirty="0"/>
              <a:t>대표 </a:t>
            </a:r>
            <a:r>
              <a:rPr lang="ko-KR" altLang="en-US" dirty="0" err="1"/>
              <a:t>행정사</a:t>
            </a:r>
            <a:endParaRPr lang="ko-KR" altLang="en-US" sz="1800" dirty="0"/>
          </a:p>
          <a:p>
            <a:endParaRPr lang="ko-KR" altLang="en-US" sz="1800" dirty="0"/>
          </a:p>
          <a:p>
            <a:r>
              <a:rPr lang="ko-KR" altLang="en-US" sz="1800" dirty="0"/>
              <a:t>6.  컨설팅 분야</a:t>
            </a:r>
          </a:p>
          <a:p>
            <a:r>
              <a:rPr lang="ko-KR" altLang="en-US" sz="1800" dirty="0"/>
              <a:t>고병인 박사</a:t>
            </a:r>
          </a:p>
          <a:p>
            <a:r>
              <a:rPr lang="ko-KR" altLang="en-US" sz="1800" dirty="0"/>
              <a:t>중앙경영연구원 원장</a:t>
            </a:r>
          </a:p>
          <a:p>
            <a:r>
              <a:rPr lang="ko-KR" altLang="ko-KR" dirty="0" err="1"/>
              <a:t>한국공공경영지도사협회</a:t>
            </a:r>
            <a:r>
              <a:rPr lang="ko-KR" altLang="ko-KR" dirty="0"/>
              <a:t> 회장</a:t>
            </a:r>
            <a:endParaRPr lang="en-US" altLang="ko-KR" sz="1800" dirty="0"/>
          </a:p>
          <a:p>
            <a:endParaRPr lang="ko-KR" altLang="en-US" sz="1800" dirty="0"/>
          </a:p>
          <a:p>
            <a:r>
              <a:rPr lang="ko-KR" altLang="en-US" sz="1800" dirty="0"/>
              <a:t>7. 노무/세무 분야</a:t>
            </a:r>
          </a:p>
          <a:p>
            <a:r>
              <a:rPr lang="ko-KR" altLang="en-US" sz="1800" dirty="0" err="1"/>
              <a:t>조효근</a:t>
            </a:r>
            <a:r>
              <a:rPr lang="ko-KR" altLang="en-US" sz="1800" dirty="0"/>
              <a:t> 노무사</a:t>
            </a:r>
          </a:p>
          <a:p>
            <a:endParaRPr lang="ko-KR" altLang="en-US" sz="1800" dirty="0"/>
          </a:p>
          <a:p>
            <a:r>
              <a:rPr lang="ko-KR" altLang="en-US" sz="1800" dirty="0" err="1"/>
              <a:t>안효원</a:t>
            </a:r>
            <a:r>
              <a:rPr lang="ko-KR" altLang="en-US" sz="1800" dirty="0"/>
              <a:t> 세무사</a:t>
            </a:r>
            <a:endParaRPr lang="en-US" altLang="ko-KR" sz="1800" dirty="0"/>
          </a:p>
          <a:p>
            <a:r>
              <a:rPr lang="ko-KR" altLang="ko-KR" dirty="0"/>
              <a:t>주환세무회계</a:t>
            </a:r>
            <a:r>
              <a:rPr lang="en-US" altLang="ko-KR" dirty="0"/>
              <a:t> </a:t>
            </a:r>
            <a:r>
              <a:rPr lang="ko-KR" altLang="en-US" dirty="0"/>
              <a:t>대표세무사</a:t>
            </a:r>
            <a:endParaRPr lang="ko-KR" altLang="en-US" sz="18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3132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355</Words>
  <Application>Microsoft Office PowerPoint</Application>
  <PresentationFormat>와이드스크린</PresentationFormat>
  <Paragraphs>126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kdw</dc:creator>
  <cp:lastModifiedBy>kdw</cp:lastModifiedBy>
  <cp:revision>17</cp:revision>
  <cp:lastPrinted>2026-10-14T00:51:16Z</cp:lastPrinted>
  <dcterms:created xsi:type="dcterms:W3CDTF">2026-10-13T03:03:48Z</dcterms:created>
  <dcterms:modified xsi:type="dcterms:W3CDTF">2026-10-19T04:03:37Z</dcterms:modified>
</cp:coreProperties>
</file>
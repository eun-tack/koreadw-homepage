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59" r:id="rId6"/>
    <p:sldId id="270" r:id="rId7"/>
    <p:sldId id="269" r:id="rId8"/>
    <p:sldId id="267" r:id="rId9"/>
    <p:sldId id="261" r:id="rId10"/>
    <p:sldId id="260" r:id="rId11"/>
    <p:sldId id="262" r:id="rId12"/>
    <p:sldId id="263" r:id="rId13"/>
    <p:sldId id="264" r:id="rId14"/>
    <p:sldId id="265" r:id="rId15"/>
    <p:sldId id="266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90" y="84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715C9-D405-4C53-AD1A-E9518D54886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35C46-E3D5-423E-993A-71A6D748B4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46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58307-5B8B-B385-C468-CE8771599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74D3FA-376E-73BA-7526-920B3705F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27DC6-4069-EF1F-6924-4C6DC829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9D68A3-5E4D-8156-1FB5-FCD9FE60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B6983B-66EA-8FB1-E5E0-9741DACD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585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13C01-0EAD-C32D-0709-B9F239CA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277BB6-B2A8-0167-A2A1-CE7B3E5FB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D5485-02AE-7E3A-D954-912A9280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50B4E-A163-3FE1-C19B-30BEF565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BC3B71-8A67-599C-2747-C0BD6811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00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86C41-A2B3-FECE-96E0-EF2BD05E0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30FA9E-5885-8A64-60F1-516D3F895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51AC3-079C-7EC9-CF05-D2D41CF9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3BF45E-16E7-11C0-1AA6-164531A6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E6302-CAD9-0916-A06A-9DFC811A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72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D32971-1134-B806-FE46-9A9170AD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09474B-EAA7-B205-9664-CEEE78C61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9E3F51-5B54-3215-1FC7-AE7147C3C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6FCA3-E1EC-057F-C20C-DC2E565F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0D4722-476E-C899-513A-82E8F7E2E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27ADAD-944E-9307-28E1-5B3F12A3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88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428ED-43C5-AE1F-858C-0CB0128F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2C2FF6-B192-ACDC-C9E9-6E27C8720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D81E4F-88EA-8DE8-C5BF-E17B9EADC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2E3DEA-71DC-23B1-EBFE-016DA4312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B85181-92A8-7A46-B5CA-21F79E4F4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F0C70F-ED44-8BF2-D233-DB48139D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1AD052-2FF0-5FC3-EDDD-4BF33DD1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EF1671-BB27-B36B-DE78-15CE6DAF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43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F9CBE-9090-ADFF-BF52-496C4B6F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8B6467-5A3F-A66C-D549-D324F078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428A53-9F40-C5CE-E70B-B95112F7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D90E8-5BF7-A0F0-E2EA-327FF8A3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60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9DBD04-C1D9-D665-1275-55F73EB0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5F2442-B5AC-ADEC-0C49-26E148BE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4C297-44FE-F291-0BBD-2745A4AC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459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3ED5A-A689-3253-A1ED-23253B7B5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624133-E80B-3C9B-0C93-6F493720A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7E1C83-03E2-EB6A-DA59-607BFB954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AFA642-06D1-F746-A907-7E8BBB74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544D70-9886-1E0E-CBF4-563F1C23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8BF5C3-4ABF-E8CF-289F-CCA1A284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61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B3517-D597-D315-CA55-F67F2900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9E80EF-27B7-8AE5-F933-E984105CE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C0CE2B-B8EB-B4B4-E7F8-4A8946290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AE29DE-3DFD-277A-918E-F764D6872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25340D-483B-84ED-E04F-9431969F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3B78C5-8052-0237-C29D-0E5024B5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85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91BF7-4763-7DB5-41B1-F521AFF6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7B2B67-25C4-DEA3-3C41-8D7926F05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81250F-8FCD-D8A9-3C2E-D8152BA3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26148D-9771-CCF3-787E-1244AD88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71B9EA-FD26-44AF-EDDB-F1C16CD9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07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52B1C3-2F24-A01E-A721-68140B189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19A20-97AE-D251-CDF4-7865E094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5F79C-C67E-EC80-381E-B12502960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AE5E96-D883-64B2-C2EE-C494C915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50522-BF3F-FDB9-8935-99C0934B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012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33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A073FA-3357-9EDF-08FC-546FBEFA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83F850-CEF8-4164-D9B0-3F0D7C847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5E4E9-6FAF-AABB-0125-E19575277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09015-7710-4818-9E5A-FA9412B992F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895463-4C2D-305A-9C3C-67A2F9D83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416E28-9F00-D6C8-4E0E-477F250C1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C1583-71B4-4826-8FD4-ECFDB6B7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9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6E8E00-EE62-74D7-FA7A-0D21424A290F}"/>
              </a:ext>
            </a:extLst>
          </p:cNvPr>
          <p:cNvSpPr txBox="1"/>
          <p:nvPr/>
        </p:nvSpPr>
        <p:spPr>
          <a:xfrm>
            <a:off x="4375150" y="292100"/>
            <a:ext cx="344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현시점의 홈페이지</a:t>
            </a:r>
            <a:endParaRPr lang="en-US" altLang="ko-KR" dirty="0"/>
          </a:p>
          <a:p>
            <a:pPr algn="ctr"/>
            <a:r>
              <a:rPr lang="ko-KR" altLang="en-US" dirty="0"/>
              <a:t>제작 타깃 및 목적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89DE1-48A4-0D99-7E84-7CB22D4FA38C}"/>
              </a:ext>
            </a:extLst>
          </p:cNvPr>
          <p:cNvSpPr txBox="1"/>
          <p:nvPr/>
        </p:nvSpPr>
        <p:spPr>
          <a:xfrm>
            <a:off x="2997200" y="2146300"/>
            <a:ext cx="619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ko-KR" altLang="en-US" dirty="0"/>
              <a:t>기존 고객의 소개를 받고 업체를 확인하려는 고객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2. </a:t>
            </a:r>
            <a:r>
              <a:rPr lang="ko-KR" altLang="en-US" dirty="0"/>
              <a:t>리서치 과제를 진행하려 업체를 탐색 중인 고객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8752F-5C83-DCC9-F17E-BC38580E8DE5}"/>
              </a:ext>
            </a:extLst>
          </p:cNvPr>
          <p:cNvSpPr txBox="1"/>
          <p:nvPr/>
        </p:nvSpPr>
        <p:spPr>
          <a:xfrm>
            <a:off x="2124075" y="3962400"/>
            <a:ext cx="7943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순위</a:t>
            </a:r>
            <a:r>
              <a:rPr lang="en-US" altLang="ko-KR" dirty="0"/>
              <a:t>: KDW</a:t>
            </a:r>
            <a:r>
              <a:rPr lang="ko-KR" altLang="en-US" dirty="0"/>
              <a:t>에 용역을 맡겨도 문제가 </a:t>
            </a:r>
            <a:r>
              <a:rPr lang="ko-KR" altLang="en-US" dirty="0" err="1"/>
              <a:t>없을거라는</a:t>
            </a:r>
            <a:r>
              <a:rPr lang="ko-KR" altLang="en-US" dirty="0"/>
              <a:t> 신뢰를 준다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2</a:t>
            </a:r>
            <a:r>
              <a:rPr lang="ko-KR" altLang="en-US" dirty="0"/>
              <a:t>순위</a:t>
            </a:r>
            <a:r>
              <a:rPr lang="en-US" altLang="ko-KR" dirty="0"/>
              <a:t>: </a:t>
            </a:r>
            <a:r>
              <a:rPr lang="ko-KR" altLang="en-US" dirty="0"/>
              <a:t>예산과 일정의 감을 잡을 수 있게 해준다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3</a:t>
            </a:r>
            <a:r>
              <a:rPr lang="ko-KR" altLang="en-US" dirty="0"/>
              <a:t>순위</a:t>
            </a:r>
            <a:r>
              <a:rPr lang="en-US" altLang="ko-KR" dirty="0"/>
              <a:t>: </a:t>
            </a:r>
            <a:r>
              <a:rPr lang="ko-KR" altLang="en-US" dirty="0"/>
              <a:t>빠르게 우리와 접촉할 수 있는 채널을 알려준다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714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D99E0-65F4-F20F-A2F8-CA19738F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38E7B5-B1C8-FBBE-E5CB-0BB0AF64908E}"/>
              </a:ext>
            </a:extLst>
          </p:cNvPr>
          <p:cNvSpPr txBox="1"/>
          <p:nvPr/>
        </p:nvSpPr>
        <p:spPr>
          <a:xfrm>
            <a:off x="4375150" y="292100"/>
            <a:ext cx="344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현시점의 홈페이지</a:t>
            </a:r>
            <a:endParaRPr lang="en-US" altLang="ko-KR" dirty="0"/>
          </a:p>
          <a:p>
            <a:pPr algn="ctr"/>
            <a:r>
              <a:rPr lang="ko-KR" altLang="en-US" dirty="0"/>
              <a:t>제작 타깃 및 목적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09FD-13EB-C27E-180B-33E63F459779}"/>
              </a:ext>
            </a:extLst>
          </p:cNvPr>
          <p:cNvSpPr txBox="1"/>
          <p:nvPr/>
        </p:nvSpPr>
        <p:spPr>
          <a:xfrm>
            <a:off x="1016000" y="1730375"/>
            <a:ext cx="1016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KDW</a:t>
            </a:r>
            <a:r>
              <a:rPr lang="ko-KR" altLang="en-US" dirty="0"/>
              <a:t>에 용역을 맡겨도 문제가 </a:t>
            </a:r>
            <a:r>
              <a:rPr lang="ko-KR" altLang="en-US" dirty="0" err="1"/>
              <a:t>없을거라는</a:t>
            </a:r>
            <a:r>
              <a:rPr lang="ko-KR" altLang="en-US" dirty="0"/>
              <a:t> 신뢰를 준다</a:t>
            </a:r>
            <a:endParaRPr lang="en-US" altLang="ko-KR" dirty="0"/>
          </a:p>
          <a:p>
            <a:pPr algn="ctr"/>
            <a:endParaRPr lang="en-US" altLang="ko-KR" dirty="0"/>
          </a:p>
          <a:p>
            <a:pPr marL="285750" indent="-285750" algn="ctr"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일을 </a:t>
            </a:r>
            <a:r>
              <a:rPr lang="ko-KR" altLang="en-US" dirty="0" err="1">
                <a:sym typeface="Wingdings" panose="05000000000000000000" pitchFamily="2" charset="2"/>
              </a:rPr>
              <a:t>많이해</a:t>
            </a:r>
            <a:r>
              <a:rPr lang="ko-KR" altLang="en-US" dirty="0">
                <a:sym typeface="Wingdings" panose="05000000000000000000" pitchFamily="2" charset="2"/>
              </a:rPr>
              <a:t> 본 회사다 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주요 클라이언트 나열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눈에 띄는 성과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 algn="ctr">
              <a:buFont typeface="Wingdings" panose="05000000000000000000" pitchFamily="2" charset="2"/>
              <a:buChar char="à"/>
            </a:pPr>
            <a:r>
              <a:rPr lang="ko-KR" altLang="en-US" dirty="0"/>
              <a:t>일을 오래해본 회사다 </a:t>
            </a:r>
            <a:r>
              <a:rPr lang="en-US" altLang="ko-KR" dirty="0"/>
              <a:t>: </a:t>
            </a:r>
            <a:r>
              <a:rPr lang="ko-KR" altLang="en-US" dirty="0"/>
              <a:t>연혁</a:t>
            </a:r>
            <a:endParaRPr lang="en-US" altLang="ko-KR" dirty="0"/>
          </a:p>
          <a:p>
            <a:pPr marL="285750" indent="-285750" algn="ctr">
              <a:buFont typeface="Wingdings" panose="05000000000000000000" pitchFamily="2" charset="2"/>
              <a:buChar char="à"/>
            </a:pPr>
            <a:r>
              <a:rPr lang="ko-KR" altLang="en-US" dirty="0"/>
              <a:t>국가</a:t>
            </a:r>
            <a:r>
              <a:rPr lang="en-US" altLang="ko-KR" dirty="0"/>
              <a:t>/</a:t>
            </a:r>
            <a:r>
              <a:rPr lang="ko-KR" altLang="en-US" dirty="0"/>
              <a:t>공공기관의 인정 받은 회사다 </a:t>
            </a:r>
            <a:r>
              <a:rPr lang="en-US" altLang="ko-KR" dirty="0"/>
              <a:t>: </a:t>
            </a:r>
            <a:r>
              <a:rPr lang="ko-KR" altLang="en-US" dirty="0"/>
              <a:t>각종 인증서 </a:t>
            </a:r>
            <a:r>
              <a:rPr lang="en-US" altLang="ko-KR" dirty="0"/>
              <a:t>/ </a:t>
            </a:r>
            <a:r>
              <a:rPr lang="ko-KR" altLang="en-US" dirty="0"/>
              <a:t>수상 경력</a:t>
            </a:r>
            <a:endParaRPr lang="en-US" altLang="ko-KR" dirty="0"/>
          </a:p>
          <a:p>
            <a:pPr marL="285750" indent="-285750" algn="ctr">
              <a:buFont typeface="Wingdings" panose="05000000000000000000" pitchFamily="2" charset="2"/>
              <a:buChar char="à"/>
            </a:pPr>
            <a:r>
              <a:rPr lang="ko-KR" altLang="en-US" dirty="0"/>
              <a:t>성향이 맞는 </a:t>
            </a:r>
            <a:r>
              <a:rPr lang="en-US" altLang="ko-KR" dirty="0"/>
              <a:t>/ </a:t>
            </a:r>
            <a:r>
              <a:rPr lang="ko-KR" altLang="en-US" dirty="0"/>
              <a:t>친밀감이 느껴지는 회사다 </a:t>
            </a:r>
            <a:r>
              <a:rPr lang="en-US" altLang="ko-KR" dirty="0"/>
              <a:t>: </a:t>
            </a:r>
            <a:r>
              <a:rPr lang="ko-KR" altLang="en-US" dirty="0"/>
              <a:t>광복회 활동 등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빠르게 우리와 접촉할 수 있는 채널을 알려준다 </a:t>
            </a:r>
            <a:r>
              <a:rPr lang="en-US" altLang="ko-KR" dirty="0"/>
              <a:t>-&gt; </a:t>
            </a:r>
            <a:r>
              <a:rPr lang="ko-KR" altLang="en-US" dirty="0"/>
              <a:t>메일</a:t>
            </a:r>
            <a:r>
              <a:rPr lang="en-US" altLang="ko-KR" dirty="0"/>
              <a:t>, SNS, </a:t>
            </a:r>
            <a:r>
              <a:rPr lang="ko-KR" altLang="en-US" dirty="0"/>
              <a:t>전번</a:t>
            </a:r>
            <a:r>
              <a:rPr lang="en-US" altLang="ko-KR" dirty="0"/>
              <a:t>, </a:t>
            </a:r>
            <a:r>
              <a:rPr lang="ko-KR" altLang="en-US" dirty="0"/>
              <a:t>지도 등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예산과 일정의 감을 잡을 수 있게 해준다 </a:t>
            </a:r>
            <a:endParaRPr lang="en-US" altLang="ko-KR" dirty="0"/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ko-KR" altLang="en-US" dirty="0"/>
              <a:t>샘플</a:t>
            </a:r>
            <a:r>
              <a:rPr lang="en-US" altLang="ko-KR" dirty="0"/>
              <a:t>, </a:t>
            </a:r>
            <a:r>
              <a:rPr lang="ko-KR" altLang="en-US" dirty="0"/>
              <a:t>분석 방법</a:t>
            </a:r>
            <a:r>
              <a:rPr lang="en-US" altLang="ko-KR" dirty="0"/>
              <a:t> </a:t>
            </a:r>
            <a:r>
              <a:rPr lang="ko-KR" altLang="en-US" dirty="0"/>
              <a:t>등에 따른 기간 명시 최저 금액 </a:t>
            </a:r>
            <a:endParaRPr lang="en-US" altLang="ko-KR" dirty="0"/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ko-KR" altLang="en-US" dirty="0"/>
              <a:t>결국 통화</a:t>
            </a:r>
            <a:r>
              <a:rPr lang="en-US" altLang="ko-KR" dirty="0"/>
              <a:t>/</a:t>
            </a:r>
            <a:r>
              <a:rPr lang="ko-KR" altLang="en-US" dirty="0"/>
              <a:t>메일로 </a:t>
            </a:r>
            <a:r>
              <a:rPr lang="ko-KR" altLang="en-US" dirty="0" err="1"/>
              <a:t>판단해야할테니</a:t>
            </a:r>
            <a:r>
              <a:rPr lang="ko-KR" altLang="en-US" dirty="0"/>
              <a:t> 대략적인 수준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11A753-E96C-04CC-2167-BE396B9AAC79}"/>
              </a:ext>
            </a:extLst>
          </p:cNvPr>
          <p:cNvSpPr txBox="1"/>
          <p:nvPr/>
        </p:nvSpPr>
        <p:spPr>
          <a:xfrm>
            <a:off x="4305301" y="1263650"/>
            <a:ext cx="344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가장 눈에 띄어야 할 내용</a:t>
            </a:r>
          </a:p>
        </p:txBody>
      </p:sp>
    </p:spTree>
    <p:extLst>
      <p:ext uri="{BB962C8B-B14F-4D97-AF65-F5344CB8AC3E}">
        <p14:creationId xmlns:p14="http://schemas.microsoft.com/office/powerpoint/2010/main" val="305824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9934E-8C34-9610-B5A2-A5258D36F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25C36C1-C268-A3B0-B26B-17D46AC44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96" y="139884"/>
            <a:ext cx="8329883" cy="4851913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F80ECE5-AADA-6C53-573A-DEE37FCFD6EF}"/>
              </a:ext>
            </a:extLst>
          </p:cNvPr>
          <p:cNvSpPr/>
          <p:nvPr/>
        </p:nvSpPr>
        <p:spPr>
          <a:xfrm>
            <a:off x="5768375" y="1131995"/>
            <a:ext cx="3695700" cy="3124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롤링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언론 기사</a:t>
            </a:r>
            <a:endParaRPr lang="en-US" altLang="ko-KR" dirty="0"/>
          </a:p>
          <a:p>
            <a:pPr algn="ctr"/>
            <a:r>
              <a:rPr lang="ko-KR" altLang="en-US" dirty="0"/>
              <a:t>수상 기록</a:t>
            </a:r>
            <a:endParaRPr lang="en-US" altLang="ko-KR" dirty="0"/>
          </a:p>
          <a:p>
            <a:pPr algn="ctr"/>
            <a:r>
              <a:rPr lang="ko-KR" altLang="en-US" dirty="0"/>
              <a:t>대외 활동</a:t>
            </a:r>
            <a:endParaRPr lang="en-US" altLang="ko-KR" dirty="0"/>
          </a:p>
          <a:p>
            <a:pPr algn="ctr"/>
            <a:r>
              <a:rPr lang="ko-KR" altLang="en-US" dirty="0"/>
              <a:t>보고서 표지</a:t>
            </a:r>
            <a:endParaRPr lang="en-US" altLang="ko-KR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B5B9CAB-BAA5-CF69-D0CD-D706EDC02C7B}"/>
              </a:ext>
            </a:extLst>
          </p:cNvPr>
          <p:cNvSpPr/>
          <p:nvPr/>
        </p:nvSpPr>
        <p:spPr>
          <a:xfrm>
            <a:off x="1702458" y="5276850"/>
            <a:ext cx="7270092" cy="704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위 표는 존재 의미 없음</a:t>
            </a:r>
            <a:endParaRPr lang="en-US" altLang="ko-KR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E27B0A6-8579-D3D5-3FC6-FD417F01476E}"/>
              </a:ext>
            </a:extLst>
          </p:cNvPr>
          <p:cNvSpPr/>
          <p:nvPr/>
        </p:nvSpPr>
        <p:spPr>
          <a:xfrm rot="16200000">
            <a:off x="5265602" y="4968715"/>
            <a:ext cx="265112" cy="41856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06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C7BE-EB26-BD40-6B8B-858426F4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D9E83C-6F2A-7808-DACC-B2661C33D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7" y="575187"/>
            <a:ext cx="4282575" cy="57076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913F12-E0DB-895A-7D11-3F4AEB763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9" b="24904"/>
          <a:stretch>
            <a:fillRect/>
          </a:stretch>
        </p:blipFill>
        <p:spPr>
          <a:xfrm>
            <a:off x="4487322" y="575187"/>
            <a:ext cx="6840271" cy="2330245"/>
          </a:xfrm>
          <a:prstGeom prst="rect">
            <a:avLst/>
          </a:prstGeom>
        </p:spPr>
      </p:pic>
      <p:pic>
        <p:nvPicPr>
          <p:cNvPr id="10" name="그림 9" descr="일상 속 보훈 가치 높이는 KB금융그룹 '명품가게', 독립유공자 후손 점포 5곳 신규 선발 &lt; 기업 &lt; 경제 &lt; 기사본문 - 이로운뉴스">
            <a:extLst>
              <a:ext uri="{FF2B5EF4-FFF2-40B4-BE49-F238E27FC236}">
                <a16:creationId xmlns:a16="http://schemas.microsoft.com/office/drawing/2014/main" id="{3CA86F25-DBF8-601D-BBBA-9F13CA472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322" y="3141663"/>
            <a:ext cx="3092245" cy="21645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429F70-59E0-FA19-80A6-8E0EA7832E53}"/>
              </a:ext>
            </a:extLst>
          </p:cNvPr>
          <p:cNvSpPr txBox="1"/>
          <p:nvPr/>
        </p:nvSpPr>
        <p:spPr>
          <a:xfrm>
            <a:off x="8467360" y="3428999"/>
            <a:ext cx="304677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정기후원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1.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광복회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2.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천사무료급식소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3.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여의도동행봉사단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4.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보훈진흥회</a:t>
            </a:r>
            <a:endParaRPr lang="en-US" altLang="ko-KR" sz="1800" kern="0" spc="0" dirty="0">
              <a:solidFill>
                <a:schemeClr val="tx1"/>
              </a:solidFill>
              <a:effectLst/>
              <a:latin typeface="+mn-lt"/>
              <a:ea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endParaRPr lang="en-US" altLang="ko-KR" kern="0" dirty="0">
              <a:ea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endParaRPr lang="en-US" altLang="ko-KR" kern="0" dirty="0">
              <a:ea typeface="함초롬바탕" panose="02030604000101010101" pitchFamily="18" charset="-127"/>
            </a:endParaRPr>
          </a:p>
          <a:p>
            <a:pPr marL="443230" indent="-443230" algn="just" fontAlgn="base"/>
            <a:r>
              <a:rPr lang="ko-KR" altLang="en-US" kern="0" dirty="0">
                <a:ea typeface="함초롬바탕" panose="02030604000101010101" pitchFamily="18" charset="-127"/>
              </a:rPr>
              <a:t>각종 </a:t>
            </a:r>
            <a:r>
              <a:rPr lang="en-US" altLang="ko-KR" kern="0" dirty="0">
                <a:ea typeface="함초롬바탕" panose="02030604000101010101" pitchFamily="18" charset="-127"/>
              </a:rPr>
              <a:t>MOU</a:t>
            </a:r>
            <a:r>
              <a:rPr lang="ko-KR" altLang="en-US" kern="0" dirty="0">
                <a:ea typeface="함초롬바탕" panose="02030604000101010101" pitchFamily="18" charset="-127"/>
              </a:rPr>
              <a:t> </a:t>
            </a:r>
            <a:r>
              <a:rPr lang="en-US" altLang="ko-KR" kern="0" dirty="0">
                <a:ea typeface="함초롬바탕" panose="02030604000101010101" pitchFamily="18" charset="-127"/>
              </a:rPr>
              <a:t>/ </a:t>
            </a:r>
            <a:r>
              <a:rPr lang="ko-KR" altLang="en-US" kern="0" dirty="0">
                <a:ea typeface="함초롬바탕" panose="02030604000101010101" pitchFamily="18" charset="-127"/>
              </a:rPr>
              <a:t>위촉장</a:t>
            </a:r>
            <a:endParaRPr lang="en-US" altLang="ko-KR" kern="0" dirty="0">
              <a:ea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endParaRPr lang="en-US" altLang="ko-KR" kern="0" dirty="0">
              <a:ea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ko-KR" altLang="en-US" kern="0" dirty="0">
                <a:ea typeface="함초롬바탕" panose="02030604000101010101" pitchFamily="18" charset="-127"/>
              </a:rPr>
              <a:t>이미지 전달 예정</a:t>
            </a:r>
            <a:endParaRPr lang="en-US" altLang="ko-KR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ko-KR" altLang="en-US" sz="10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ㄱ</a:t>
            </a:r>
            <a:endParaRPr lang="ko-KR" altLang="ko-KR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630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CA170-AF79-6F88-9DA4-20260B4C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C33402-63D4-9780-4873-78E9EDB79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00" y="142653"/>
            <a:ext cx="3348400" cy="2052047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36161A1E-6E22-9412-9B12-859D0D15C386}"/>
              </a:ext>
            </a:extLst>
          </p:cNvPr>
          <p:cNvSpPr/>
          <p:nvPr/>
        </p:nvSpPr>
        <p:spPr>
          <a:xfrm>
            <a:off x="1676400" y="1619250"/>
            <a:ext cx="3190875" cy="180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D331C-DA8C-906C-690B-33593F10DEAE}"/>
              </a:ext>
            </a:extLst>
          </p:cNvPr>
          <p:cNvSpPr txBox="1"/>
          <p:nvPr/>
        </p:nvSpPr>
        <p:spPr>
          <a:xfrm>
            <a:off x="4479925" y="1574928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삭제 </a:t>
            </a:r>
            <a:r>
              <a:rPr lang="en-US" altLang="ko-KR" dirty="0"/>
              <a:t>: </a:t>
            </a:r>
            <a:r>
              <a:rPr lang="ko-KR" altLang="en-US" dirty="0" err="1"/>
              <a:t>고객용</a:t>
            </a:r>
            <a:r>
              <a:rPr lang="ko-KR" altLang="en-US" dirty="0"/>
              <a:t> 홈피에서 의미 없음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63281-A22B-4AA4-2C3F-2DC0449570C4}"/>
              </a:ext>
            </a:extLst>
          </p:cNvPr>
          <p:cNvSpPr txBox="1"/>
          <p:nvPr/>
        </p:nvSpPr>
        <p:spPr>
          <a:xfrm>
            <a:off x="4372027" y="4391558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추가 </a:t>
            </a:r>
            <a:r>
              <a:rPr lang="en-US" altLang="ko-KR" dirty="0"/>
              <a:t>: </a:t>
            </a:r>
            <a:r>
              <a:rPr lang="ko-KR" altLang="en-US" dirty="0"/>
              <a:t>주요 클라이언트 </a:t>
            </a:r>
            <a:r>
              <a:rPr lang="en-US" altLang="ko-KR" dirty="0"/>
              <a:t>(</a:t>
            </a:r>
            <a:r>
              <a:rPr lang="ko-KR" altLang="en-US" dirty="0"/>
              <a:t>파일 </a:t>
            </a:r>
            <a:r>
              <a:rPr lang="ko-KR" altLang="en-US" dirty="0" err="1"/>
              <a:t>작성중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3781D80-483D-13CB-9A28-7AE7BE94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463"/>
          <a:stretch>
            <a:fillRect/>
          </a:stretch>
        </p:blipFill>
        <p:spPr>
          <a:xfrm>
            <a:off x="618853" y="2594713"/>
            <a:ext cx="2295798" cy="1900549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9216BFEA-00DB-484B-AF00-E299D988F850}"/>
              </a:ext>
            </a:extLst>
          </p:cNvPr>
          <p:cNvSpPr/>
          <p:nvPr/>
        </p:nvSpPr>
        <p:spPr>
          <a:xfrm>
            <a:off x="1535113" y="4485737"/>
            <a:ext cx="3190875" cy="180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70D79E9-A9F8-D4C3-2257-AACD77DDD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2292806"/>
            <a:ext cx="4067175" cy="20701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B31455-AE4C-B4E1-6642-BC019D16D333}"/>
              </a:ext>
            </a:extLst>
          </p:cNvPr>
          <p:cNvSpPr txBox="1"/>
          <p:nvPr/>
        </p:nvSpPr>
        <p:spPr>
          <a:xfrm>
            <a:off x="9209882" y="3253671"/>
            <a:ext cx="2008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예시 이미지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99EEB6A-06F3-ABED-ADF5-A9C5E9C6B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00" y="4967918"/>
            <a:ext cx="3143689" cy="180047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A934927-0A8E-7CD8-9D2D-A870443D4CCC}"/>
              </a:ext>
            </a:extLst>
          </p:cNvPr>
          <p:cNvSpPr txBox="1"/>
          <p:nvPr/>
        </p:nvSpPr>
        <p:spPr>
          <a:xfrm>
            <a:off x="3336638" y="5728584"/>
            <a:ext cx="7588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견적문의는 우측 버튼과 겹치니 삭제</a:t>
            </a:r>
          </a:p>
          <a:p>
            <a:pPr algn="ctr"/>
            <a:r>
              <a:rPr lang="ko-KR" altLang="en-US" dirty="0"/>
              <a:t>고객지원 </a:t>
            </a:r>
            <a:r>
              <a:rPr lang="en-US" altLang="ko-KR" dirty="0"/>
              <a:t>-&gt; </a:t>
            </a:r>
            <a:r>
              <a:rPr lang="ko-KR" altLang="en-US" dirty="0"/>
              <a:t>공지사항 으로 </a:t>
            </a:r>
            <a:r>
              <a:rPr lang="ko-KR" altLang="en-US" dirty="0" err="1"/>
              <a:t>메뉴명</a:t>
            </a:r>
            <a:r>
              <a:rPr lang="ko-KR" altLang="en-US" dirty="0"/>
              <a:t> 수정</a:t>
            </a:r>
            <a:endParaRPr lang="en-US" altLang="ko-KR" dirty="0"/>
          </a:p>
          <a:p>
            <a:pPr algn="ctr"/>
            <a:r>
              <a:rPr lang="ko-KR" altLang="en-US" dirty="0"/>
              <a:t>향후 가능하면 </a:t>
            </a:r>
            <a:r>
              <a:rPr lang="en-US" altLang="ko-KR" dirty="0"/>
              <a:t>&lt;</a:t>
            </a:r>
            <a:r>
              <a:rPr lang="ko-KR" altLang="en-US" dirty="0"/>
              <a:t>언론에 보도된 </a:t>
            </a:r>
            <a:r>
              <a:rPr lang="en-US" altLang="ko-KR" dirty="0"/>
              <a:t>KDW&gt;(</a:t>
            </a:r>
            <a:r>
              <a:rPr lang="ko-KR" altLang="en-US" dirty="0"/>
              <a:t>보도</a:t>
            </a:r>
            <a:r>
              <a:rPr lang="en-US" altLang="ko-KR" dirty="0"/>
              <a:t>, </a:t>
            </a:r>
            <a:r>
              <a:rPr lang="ko-KR" altLang="en-US" dirty="0"/>
              <a:t>공표자료</a:t>
            </a:r>
            <a:r>
              <a:rPr lang="en-US" altLang="ko-KR" dirty="0"/>
              <a:t>) </a:t>
            </a:r>
            <a:r>
              <a:rPr lang="ko-KR" altLang="en-US" dirty="0"/>
              <a:t>메뉴 추가</a:t>
            </a:r>
            <a:endParaRPr lang="en-US" altLang="ko-KR" dirty="0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0530B79-94A1-7B78-E911-DA7943564E16}"/>
              </a:ext>
            </a:extLst>
          </p:cNvPr>
          <p:cNvSpPr/>
          <p:nvPr/>
        </p:nvSpPr>
        <p:spPr>
          <a:xfrm>
            <a:off x="1535112" y="3276822"/>
            <a:ext cx="1293813" cy="180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65BE84-2C47-D059-7220-FFFE6E2EB018}"/>
              </a:ext>
            </a:extLst>
          </p:cNvPr>
          <p:cNvSpPr txBox="1"/>
          <p:nvPr/>
        </p:nvSpPr>
        <p:spPr>
          <a:xfrm>
            <a:off x="2178051" y="3211977"/>
            <a:ext cx="3660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추가 </a:t>
            </a:r>
            <a:r>
              <a:rPr lang="en-US" altLang="ko-KR" dirty="0"/>
              <a:t>: </a:t>
            </a:r>
            <a:r>
              <a:rPr lang="ko-KR" altLang="en-US" dirty="0"/>
              <a:t>조사방법 </a:t>
            </a:r>
            <a:r>
              <a:rPr lang="en-US" altLang="ko-KR" dirty="0"/>
              <a:t>(</a:t>
            </a:r>
            <a:r>
              <a:rPr lang="ko-KR" altLang="en-US" dirty="0"/>
              <a:t>뒷장</a:t>
            </a:r>
            <a:r>
              <a:rPr lang="en-US" altLang="ko-KR" dirty="0"/>
              <a:t>)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9529602E-5BF4-84D4-A8C8-18627AC277FE}"/>
              </a:ext>
            </a:extLst>
          </p:cNvPr>
          <p:cNvSpPr/>
          <p:nvPr/>
        </p:nvSpPr>
        <p:spPr>
          <a:xfrm>
            <a:off x="1666875" y="1009650"/>
            <a:ext cx="3190875" cy="180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C8764-B79F-FD75-2F0C-077135D88EC1}"/>
              </a:ext>
            </a:extLst>
          </p:cNvPr>
          <p:cNvSpPr txBox="1"/>
          <p:nvPr/>
        </p:nvSpPr>
        <p:spPr>
          <a:xfrm>
            <a:off x="5015275" y="915471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연혁에 추가 </a:t>
            </a:r>
            <a:r>
              <a:rPr lang="en-US" altLang="ko-KR" dirty="0"/>
              <a:t>or </a:t>
            </a:r>
            <a:r>
              <a:rPr lang="ko-KR" altLang="en-US" dirty="0"/>
              <a:t>메뉴 추가 </a:t>
            </a:r>
            <a:r>
              <a:rPr lang="en-US" altLang="ko-KR" dirty="0"/>
              <a:t>: </a:t>
            </a:r>
            <a:r>
              <a:rPr lang="ko-KR" altLang="en-US" dirty="0"/>
              <a:t>인증</a:t>
            </a:r>
            <a:r>
              <a:rPr lang="en-US" altLang="ko-KR" dirty="0"/>
              <a:t>/</a:t>
            </a:r>
            <a:r>
              <a:rPr lang="ko-KR" altLang="en-US" dirty="0"/>
              <a:t>수상 내역</a:t>
            </a:r>
          </a:p>
        </p:txBody>
      </p:sp>
    </p:spTree>
    <p:extLst>
      <p:ext uri="{BB962C8B-B14F-4D97-AF65-F5344CB8AC3E}">
        <p14:creationId xmlns:p14="http://schemas.microsoft.com/office/powerpoint/2010/main" val="645257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6751-DE01-263F-9FA3-BA796209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BA6BBD-3781-569E-D338-C2ABC3321816}"/>
              </a:ext>
            </a:extLst>
          </p:cNvPr>
          <p:cNvSpPr txBox="1"/>
          <p:nvPr/>
        </p:nvSpPr>
        <p:spPr>
          <a:xfrm>
            <a:off x="497758" y="567479"/>
            <a:ext cx="609845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KDW </a:t>
            </a:r>
            <a:r>
              <a:rPr lang="ko-KR" altLang="en-US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클라이언트 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(CI </a:t>
            </a:r>
            <a:r>
              <a:rPr lang="ko-KR" altLang="en-US" sz="1800" kern="0" spc="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정리중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)</a:t>
            </a:r>
          </a:p>
          <a:p>
            <a:pPr marL="0" marR="0" indent="0" algn="just" fontAlgn="base" latinLnBrk="1">
              <a:lnSpc>
                <a:spcPct val="100000"/>
              </a:lnSpc>
              <a:buNone/>
            </a:pPr>
            <a:endParaRPr lang="en-US" altLang="ko-KR" kern="0" dirty="0"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1) </a:t>
            </a:r>
            <a:r>
              <a:rPr lang="en-US" altLang="ko-KR" sz="1800" kern="0" spc="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국책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 및 </a:t>
            </a:r>
            <a:r>
              <a:rPr lang="en-US" altLang="ko-KR" sz="1800" kern="0" spc="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지자체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 </a:t>
            </a:r>
            <a:r>
              <a:rPr lang="en-US" altLang="ko-KR" sz="1800" kern="0" spc="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연구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 </a:t>
            </a:r>
            <a:r>
              <a:rPr lang="en-US" altLang="ko-KR" sz="1800" kern="0" spc="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기관</a:t>
            </a:r>
            <a:endParaRPr lang="en-US" altLang="ko-KR" sz="1800" kern="0" spc="0" dirty="0">
              <a:solidFill>
                <a:schemeClr val="tx1"/>
              </a:solidFill>
              <a:effectLst/>
              <a:latin typeface="+mn-lt"/>
              <a:ea typeface="함초롬바탕" panose="02030604000101010101" pitchFamily="18" charset="-127"/>
            </a:endParaRPr>
          </a:p>
          <a:p>
            <a:pPr marL="434340" marR="0" indent="-43434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-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국가보훈부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한국</a:t>
            </a:r>
            <a:r>
              <a:rPr lang="ko-KR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도로교통공단</a:t>
            </a:r>
            <a:r>
              <a:rPr lang="en-US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국립산림과학원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경북도청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문경시청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대구시청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대한민국국회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한국환경연구원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경기연구원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강원연구원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인천연구원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경북연구원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서울연구원</a:t>
            </a:r>
            <a:r>
              <a:rPr lang="en-US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34340" marR="0" indent="-434340" algn="just" fontAlgn="base" latinLnBrk="1">
              <a:lnSpc>
                <a:spcPct val="100000"/>
              </a:lnSpc>
              <a:buNone/>
            </a:pPr>
            <a:r>
              <a:rPr lang="ko-KR" altLang="ko-KR" sz="1800" kern="0" spc="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수원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시정연구원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화성시연구원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충남연구원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한국뇌연구원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한국생산기술연구원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경북</a:t>
            </a:r>
            <a:r>
              <a:rPr lang="ko-KR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여성정책개발원</a:t>
            </a:r>
            <a:r>
              <a:rPr lang="en-US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한국해양수산개발원</a:t>
            </a:r>
            <a:r>
              <a:rPr lang="en-US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도로교통연구원</a:t>
            </a:r>
            <a:r>
              <a:rPr lang="en-US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-1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경북테크노파크</a:t>
            </a:r>
            <a:r>
              <a:rPr lang="en-US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-1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대구테크노파크</a:t>
            </a:r>
            <a:r>
              <a:rPr lang="en-US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대구정책연구원</a:t>
            </a:r>
            <a:r>
              <a:rPr lang="en-US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연구개발특구진흥재단</a:t>
            </a:r>
            <a:r>
              <a:rPr lang="en-US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-1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대구시 서구청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2)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대학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-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고려대학교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구미대학교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금오공과대학교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대구대학교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대구한의대학교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영남대학교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명지대학교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한국폴리텍대학교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숙명여자대학교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경북대학교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영남이공대학교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3)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일반 기업</a:t>
            </a:r>
            <a:endParaRPr lang="ko-KR" altLang="ko-KR" sz="18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443230" marR="0" indent="-443230" algn="just" fontAlgn="base" latinLnBrk="1">
              <a:lnSpc>
                <a:spcPct val="100000"/>
              </a:lnSpc>
              <a:buNone/>
            </a:pP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-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광복회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유니기획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일동제약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 err="1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신명이엔씨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수성엔지니어링</a:t>
            </a:r>
            <a:r>
              <a:rPr lang="en-US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, </a:t>
            </a:r>
            <a:r>
              <a:rPr lang="ko-KR" altLang="ko-KR" sz="1800" kern="0" spc="0" dirty="0">
                <a:solidFill>
                  <a:schemeClr val="tx1"/>
                </a:solidFill>
                <a:effectLst/>
                <a:latin typeface="+mn-lt"/>
                <a:ea typeface="함초롬바탕" panose="02030604000101010101" pitchFamily="18" charset="-127"/>
              </a:rPr>
              <a:t>동성엔지니어링</a:t>
            </a:r>
            <a:endParaRPr lang="ko-KR" altLang="ko-KR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DCB1BB-B518-A6F0-253B-C8AF9304A2A6}"/>
              </a:ext>
            </a:extLst>
          </p:cNvPr>
          <p:cNvSpPr txBox="1"/>
          <p:nvPr/>
        </p:nvSpPr>
        <p:spPr>
          <a:xfrm>
            <a:off x="6981825" y="8388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양구 구청, 수원시청, 화성시청, 수자원공사 추가</a:t>
            </a:r>
          </a:p>
        </p:txBody>
      </p:sp>
    </p:spTree>
    <p:extLst>
      <p:ext uri="{BB962C8B-B14F-4D97-AF65-F5344CB8AC3E}">
        <p14:creationId xmlns:p14="http://schemas.microsoft.com/office/powerpoint/2010/main" val="1052142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9C5A-7AD6-345D-D6B2-85674028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96259D-8DA9-B5FB-8B98-9C80073241B0}"/>
              </a:ext>
            </a:extLst>
          </p:cNvPr>
          <p:cNvSpPr txBox="1"/>
          <p:nvPr/>
        </p:nvSpPr>
        <p:spPr>
          <a:xfrm>
            <a:off x="1264673" y="1248837"/>
            <a:ext cx="938366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marR="0" indent="-450850" algn="just" fontAlgn="base" latinLnBrk="1">
              <a:lnSpc>
                <a:spcPct val="100000"/>
              </a:lnSpc>
              <a:buNone/>
            </a:pPr>
            <a:r>
              <a:rPr lang="ko-KR" altLang="ko-KR" sz="1600" b="1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□ 기업 주요 연혁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2016. 10. 27.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주식회사 코리아데이터월드 창립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2018. 03. 07.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주식회사 코리아데이터월드 대구 지점 설립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(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대구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)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2021. 10. 27.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주식회사 코리아데이터월드창립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5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주년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2026. 10. 27.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주식회사 코리아데이터월드창립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10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주년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2025. 08. 15. </a:t>
            </a:r>
            <a:r>
              <a:rPr lang="ko-KR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광복 </a:t>
            </a:r>
            <a:r>
              <a:rPr lang="en-US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80</a:t>
            </a:r>
            <a:r>
              <a:rPr lang="ko-KR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주년 국민은행</a:t>
            </a:r>
            <a:r>
              <a:rPr lang="en-US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, </a:t>
            </a:r>
            <a:r>
              <a:rPr lang="en-US" altLang="ko-KR" sz="1600" kern="0" spc="-150" dirty="0" err="1">
                <a:solidFill>
                  <a:schemeClr val="tx1"/>
                </a:solidFill>
                <a:effectLst/>
                <a:latin typeface="+mn-lt"/>
                <a:ea typeface="휴먼명조"/>
              </a:rPr>
              <a:t>kFI</a:t>
            </a:r>
            <a:r>
              <a:rPr lang="en-US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, </a:t>
            </a:r>
            <a:r>
              <a:rPr lang="ko-KR" altLang="ko-KR" sz="1600" kern="0" spc="-15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광복회 주관 </a:t>
            </a:r>
            <a:r>
              <a:rPr lang="ko-KR" altLang="ko-KR" sz="1600" b="1" u="sng" kern="0" spc="-110" dirty="0" err="1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독립유공후손</a:t>
            </a:r>
            <a:r>
              <a:rPr lang="ko-KR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 명예를 품을 가게</a:t>
            </a:r>
            <a:r>
              <a:rPr lang="en-US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(</a:t>
            </a:r>
            <a:r>
              <a:rPr lang="ko-KR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명품 가게</a:t>
            </a:r>
            <a:r>
              <a:rPr lang="en-US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)</a:t>
            </a:r>
            <a:r>
              <a:rPr lang="ko-KR" altLang="ko-KR" sz="1600" b="1" u="sng" kern="0" spc="-11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선정</a:t>
            </a:r>
            <a:r>
              <a:rPr lang="en-US" altLang="ko-KR" sz="1600" kern="0" spc="-9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11. ARS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전화 조사 시스템 도입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08.‘26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년 스마트서비스 지원사업 선정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’ (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중소벤처기업부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)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2025. 09.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온라인 조사 시스템 도입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2025. 10. 12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한국보훈진흥회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MOU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체결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  <a:ea typeface="휴먼명조"/>
              </a:rPr>
              <a:t>◦</a:t>
            </a:r>
            <a:r>
              <a:rPr lang="en-US" altLang="ko-KR" sz="1600" kern="0" spc="-7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  <a:ea typeface="휴먼명조"/>
              </a:rPr>
              <a:t> 2026. 10. </a:t>
            </a:r>
            <a:r>
              <a:rPr lang="ko-KR" altLang="ko-KR" sz="1600" kern="0" spc="-7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  <a:ea typeface="휴먼명조"/>
              </a:rPr>
              <a:t>기업부설연구소</a:t>
            </a:r>
            <a:r>
              <a:rPr lang="en-US" altLang="ko-KR" sz="1600" kern="0" spc="-7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  <a:ea typeface="휴먼명조"/>
              </a:rPr>
              <a:t>(</a:t>
            </a:r>
            <a:r>
              <a:rPr lang="ko-KR" altLang="ko-KR" sz="1600" kern="0" spc="-7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  <a:ea typeface="휴먼명조"/>
              </a:rPr>
              <a:t>소관부서확인</a:t>
            </a:r>
            <a:r>
              <a:rPr lang="en-US" altLang="ko-KR" sz="1600" kern="0" spc="-7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  <a:ea typeface="휴먼명조"/>
              </a:rPr>
              <a:t>) </a:t>
            </a:r>
            <a:endParaRPr lang="en-US" altLang="ko-KR" sz="1600" kern="0" spc="-70" dirty="0">
              <a:solidFill>
                <a:schemeClr val="bg2">
                  <a:lumMod val="90000"/>
                </a:schemeClr>
              </a:solidFill>
              <a:ea typeface="휴먼명조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2026. 11.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자족친화기업 인증 예정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(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성평등가족부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)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b="1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□ 기업 창업과 성장 스토리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2025.01 ~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대구일보 정치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/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사회 여론조사 자문위원 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-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대선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/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총선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/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지방선거 관련 조사 결과 분석 및 동향 인터뷰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2025.08.15. 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광복 </a:t>
            </a: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80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주년 기획 여론 조사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 (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광복회 주관</a:t>
            </a: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)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en-US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- </a:t>
            </a:r>
            <a:r>
              <a:rPr lang="ko-KR" altLang="ko-KR" sz="1600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독립유공자 후손 및 일반 국민 여론 조사 결과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334010" marR="0" indent="-334010" algn="just" fontAlgn="base" latinLnBrk="1">
              <a:lnSpc>
                <a:spcPct val="100000"/>
              </a:lnSpc>
              <a:buNone/>
            </a:pP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MBC, KBS 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등 주요 언론사 </a:t>
            </a: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30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여개 매체 언론 보도</a:t>
            </a:r>
            <a:endParaRPr lang="ko-KR" altLang="ko-KR" sz="1600" kern="0" spc="0" dirty="0">
              <a:solidFill>
                <a:schemeClr val="tx1"/>
              </a:solidFill>
              <a:effectLst/>
              <a:latin typeface="+mn-lt"/>
            </a:endParaRPr>
          </a:p>
          <a:p>
            <a:pPr marL="504190" marR="0" indent="-504190" algn="just" fontAlgn="base" latinLnBrk="1">
              <a:lnSpc>
                <a:spcPct val="100000"/>
              </a:lnSpc>
              <a:buNone/>
            </a:pPr>
            <a:r>
              <a:rPr lang="ko-KR" altLang="ko-KR" sz="1600" kern="0" spc="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◦ </a:t>
            </a:r>
            <a:r>
              <a:rPr lang="en-US" altLang="ko-KR" sz="1600" b="1" kern="0" spc="-70" dirty="0">
                <a:solidFill>
                  <a:schemeClr val="tx1"/>
                </a:solidFill>
                <a:effectLst/>
                <a:latin typeface="+mn-lt"/>
                <a:ea typeface="휴먼명조"/>
              </a:rPr>
              <a:t>2025.12.31. 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「대구일보」 여성기업 특별기획 </a:t>
            </a:r>
            <a:r>
              <a:rPr lang="en-US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1</a:t>
            </a:r>
            <a:r>
              <a:rPr lang="ko-KR" altLang="ko-KR" sz="1600" b="1" u="sng" kern="0" spc="-7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+mn-lt"/>
                <a:ea typeface="휴먼명조"/>
              </a:rPr>
              <a:t>면 전면 인터뷰 게재</a:t>
            </a:r>
            <a:endParaRPr lang="ko-KR" altLang="ko-KR" sz="9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626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9B2A-3354-0388-7CC0-4EEAB958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624C90-A98D-50FE-7E31-815F14F4F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15" y="594774"/>
            <a:ext cx="4735419" cy="2148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7A447-A517-CE1C-8FFD-786CECA4E325}"/>
              </a:ext>
            </a:extLst>
          </p:cNvPr>
          <p:cNvSpPr txBox="1"/>
          <p:nvPr/>
        </p:nvSpPr>
        <p:spPr>
          <a:xfrm>
            <a:off x="392399" y="187342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회사 소개 메뉴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80868-8240-DB07-EAC4-B5B900641F5C}"/>
              </a:ext>
            </a:extLst>
          </p:cNvPr>
          <p:cNvSpPr txBox="1"/>
          <p:nvPr/>
        </p:nvSpPr>
        <p:spPr>
          <a:xfrm>
            <a:off x="294815" y="2753949"/>
            <a:ext cx="165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인사말 소개 수정</a:t>
            </a:r>
            <a:endParaRPr lang="en-US" altLang="ko-KR" sz="1400" dirty="0"/>
          </a:p>
          <a:p>
            <a:r>
              <a:rPr lang="ko-KR" altLang="en-US" sz="1400" dirty="0"/>
              <a:t>대표님 사진 추가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B45FA30-2DF8-8883-C47D-0ED4A49439CC}"/>
              </a:ext>
            </a:extLst>
          </p:cNvPr>
          <p:cNvSpPr/>
          <p:nvPr/>
        </p:nvSpPr>
        <p:spPr>
          <a:xfrm rot="5400000" flipV="1">
            <a:off x="944045" y="2359731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0F8F7-589E-7BDB-3CE8-6D0503647254}"/>
              </a:ext>
            </a:extLst>
          </p:cNvPr>
          <p:cNvSpPr txBox="1"/>
          <p:nvPr/>
        </p:nvSpPr>
        <p:spPr>
          <a:xfrm>
            <a:off x="4932649" y="861123"/>
            <a:ext cx="6096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dirty="0"/>
              <a:t>안녕하십니까?</a:t>
            </a:r>
            <a:br>
              <a:rPr lang="ko-KR" altLang="ko-KR" sz="1400" dirty="0"/>
            </a:b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오늘날 우리는 데이터가 넘쳐나는 시대를 살고 있습니다. 하지만 데이터가 많다고 해서 좋은 판단이 저절로 따라오는 것은 아닙니다. 정작 필요한 순간, "이 숫자가 무엇을 말해주는지" 답할 수 있는 데이터는 생각보다 많지 않습니다.</a:t>
            </a:r>
            <a:endParaRPr lang="en-US" altLang="ko-KR" sz="1400" dirty="0"/>
          </a:p>
          <a:p>
            <a:pPr rtl="0">
              <a:buNone/>
            </a:pPr>
            <a:endParaRPr lang="ko-KR" altLang="ko-KR" sz="1400" dirty="0"/>
          </a:p>
          <a:p>
            <a:pPr rtl="0">
              <a:buNone/>
            </a:pPr>
            <a:r>
              <a:rPr lang="ko-KR" altLang="ko-KR" sz="1400" dirty="0"/>
              <a:t>코리아데이터월드는 바로 그 지점에서 출발합니다.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저희는 설문지를 받아 응답을 취합하는 것</a:t>
            </a:r>
            <a:r>
              <a:rPr lang="ko-KR" altLang="en-US" sz="1400" dirty="0"/>
              <a:t>으로</a:t>
            </a:r>
            <a:r>
              <a:rPr lang="ko-KR" altLang="ko-KR" sz="1400" dirty="0"/>
              <a:t> 일을 시작하지 않습니다. 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"무엇을 물어야 하는지", "그 답이 어떤 형태로 쓰여야 </a:t>
            </a:r>
            <a:r>
              <a:rPr lang="ko-KR" altLang="ko-KR" sz="1400" dirty="0" err="1"/>
              <a:t>하는지"를</a:t>
            </a:r>
            <a:r>
              <a:rPr lang="ko-KR" altLang="ko-KR" sz="1400" dirty="0"/>
              <a:t> 고객과 함께 정의하는 것에서부터 조사를 시작합니다. 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만족도, 정책수요, 실태, 학술연구 — 성격이 다른 조사마다 질문을 설계하는 방식도 달라야 한다는 것을 </a:t>
            </a:r>
            <a:r>
              <a:rPr lang="en-US" altLang="ko-KR" sz="1400" dirty="0"/>
              <a:t>10</a:t>
            </a:r>
            <a:r>
              <a:rPr lang="ko-KR" altLang="en-US" sz="1400" dirty="0"/>
              <a:t>년 간의 경험을 통해 체득하고 있습니다</a:t>
            </a:r>
            <a:endParaRPr lang="ko-KR" altLang="ko-KR" sz="1400" dirty="0"/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en-US" sz="1400" dirty="0"/>
              <a:t>클라이언트가 원하는 결과물을 제공하기 위해</a:t>
            </a:r>
            <a:r>
              <a:rPr lang="en-US" altLang="ko-KR" sz="1400" dirty="0"/>
              <a:t>, </a:t>
            </a:r>
            <a:r>
              <a:rPr lang="ko-KR" altLang="ko-KR" sz="1400" dirty="0"/>
              <a:t>일반 설문으로는 답할 수 없는 질문에 답하는 특수 조사기법을 자체 플랫폼으로 직접 구현</a:t>
            </a:r>
            <a:r>
              <a:rPr lang="ko-KR" altLang="en-US" sz="1400" dirty="0"/>
              <a:t>하며</a:t>
            </a:r>
            <a:r>
              <a:rPr lang="en-US" altLang="ko-KR" sz="1400" dirty="0"/>
              <a:t>, </a:t>
            </a:r>
            <a:r>
              <a:rPr lang="ko-KR" altLang="en-US" sz="1400" dirty="0"/>
              <a:t>맞춤형 조사를 진행</a:t>
            </a:r>
            <a:r>
              <a:rPr lang="ko-KR" altLang="ko-KR" sz="1400" dirty="0"/>
              <a:t>해 왔습니다. </a:t>
            </a:r>
            <a:r>
              <a:rPr lang="ko-KR" altLang="en-US" sz="1400" dirty="0"/>
              <a:t>클라이언트의 고민을 함께 짊어지고</a:t>
            </a:r>
            <a:r>
              <a:rPr lang="en-US" altLang="ko-KR" sz="1400" dirty="0"/>
              <a:t>, </a:t>
            </a:r>
            <a:r>
              <a:rPr lang="ko-KR" altLang="en-US" sz="1400" dirty="0"/>
              <a:t>끝내 결과물을 만들어내는 뚝심</a:t>
            </a:r>
            <a:r>
              <a:rPr lang="en-US" altLang="ko-KR" sz="1400" dirty="0"/>
              <a:t>,</a:t>
            </a:r>
            <a:r>
              <a:rPr lang="ko-KR" altLang="en-US" sz="1400" dirty="0"/>
              <a:t> 그것이</a:t>
            </a:r>
            <a:r>
              <a:rPr lang="ko-KR" altLang="ko-KR" sz="1400" dirty="0"/>
              <a:t> 코리아데이터월드가 가진 실질적인 경쟁력입니다.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숫자 하나에 </a:t>
            </a:r>
            <a:r>
              <a:rPr lang="ko-KR" altLang="en-US" sz="1400" dirty="0"/>
              <a:t>많은 이의</a:t>
            </a:r>
            <a:r>
              <a:rPr lang="ko-KR" altLang="ko-KR" sz="1400" dirty="0"/>
              <a:t> 시간과 생각이 담겨 있다는 것을 저희는 잊지 않습니다. 그 무게를 아는 만큼, 저희가 드리는 데이터와 분석이 고객의 성과로, 정책의 근거로, 연구의 결실로 이어지도록 끝까지 책임지겠습니다.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(주)코리아데이터월드 대표이사 </a:t>
            </a:r>
            <a:r>
              <a:rPr lang="ko-KR" altLang="ko-KR" sz="1400" dirty="0" err="1"/>
              <a:t>김근지</a:t>
            </a:r>
            <a:endParaRPr lang="ko-KR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141C1D-70DA-30F6-5B63-6D5659815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484" y="2941638"/>
            <a:ext cx="2139429" cy="31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10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864B7-9984-B3C3-3320-2CD76058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16E484-77C1-3502-FB47-7529C8342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15" y="594774"/>
            <a:ext cx="4735419" cy="2148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EE8F0B-BB5E-F88C-4DFB-7D32164AD6F9}"/>
              </a:ext>
            </a:extLst>
          </p:cNvPr>
          <p:cNvSpPr txBox="1"/>
          <p:nvPr/>
        </p:nvSpPr>
        <p:spPr>
          <a:xfrm>
            <a:off x="392399" y="187342"/>
            <a:ext cx="454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회사 소개 메뉴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9B910-EBBD-B0EB-C3FF-2AD29198218B}"/>
              </a:ext>
            </a:extLst>
          </p:cNvPr>
          <p:cNvSpPr txBox="1"/>
          <p:nvPr/>
        </p:nvSpPr>
        <p:spPr>
          <a:xfrm>
            <a:off x="294815" y="2753949"/>
            <a:ext cx="1655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인사말 소개 수정</a:t>
            </a:r>
            <a:endParaRPr lang="en-US" altLang="ko-KR" sz="1400" dirty="0"/>
          </a:p>
          <a:p>
            <a:r>
              <a:rPr lang="ko-KR" altLang="en-US" sz="1400" dirty="0"/>
              <a:t>대표님 사진 추가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CDF39C0-DF5E-86C8-95B2-97D87B9436DF}"/>
              </a:ext>
            </a:extLst>
          </p:cNvPr>
          <p:cNvSpPr/>
          <p:nvPr/>
        </p:nvSpPr>
        <p:spPr>
          <a:xfrm rot="5400000" flipV="1">
            <a:off x="944045" y="2359731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32D3FF2-A941-497C-8F05-DE6178115C9A}"/>
              </a:ext>
            </a:extLst>
          </p:cNvPr>
          <p:cNvSpPr/>
          <p:nvPr/>
        </p:nvSpPr>
        <p:spPr>
          <a:xfrm rot="5400000" flipV="1">
            <a:off x="1346642" y="2767633"/>
            <a:ext cx="1207298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10DA2-0DBD-4F50-71A1-0D480076F840}"/>
              </a:ext>
            </a:extLst>
          </p:cNvPr>
          <p:cNvSpPr txBox="1"/>
          <p:nvPr/>
        </p:nvSpPr>
        <p:spPr>
          <a:xfrm>
            <a:off x="1474978" y="3668349"/>
            <a:ext cx="950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업데이트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AFB2FDF-073B-BE05-E5A8-0334143028A3}"/>
              </a:ext>
            </a:extLst>
          </p:cNvPr>
          <p:cNvSpPr/>
          <p:nvPr/>
        </p:nvSpPr>
        <p:spPr>
          <a:xfrm rot="5400000" flipV="1">
            <a:off x="3725345" y="2163984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754490B-382E-830B-0F35-DCE9161F0538}"/>
              </a:ext>
            </a:extLst>
          </p:cNvPr>
          <p:cNvCxnSpPr/>
          <p:nvPr/>
        </p:nvCxnSpPr>
        <p:spPr>
          <a:xfrm>
            <a:off x="2886075" y="2028825"/>
            <a:ext cx="51052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화살표: 굽음 17">
            <a:extLst>
              <a:ext uri="{FF2B5EF4-FFF2-40B4-BE49-F238E27FC236}">
                <a16:creationId xmlns:a16="http://schemas.microsoft.com/office/drawing/2014/main" id="{59E13343-3252-34B2-8D40-DDA198C8E02E}"/>
              </a:ext>
            </a:extLst>
          </p:cNvPr>
          <p:cNvSpPr/>
          <p:nvPr/>
        </p:nvSpPr>
        <p:spPr>
          <a:xfrm flipV="1">
            <a:off x="2426762" y="2307138"/>
            <a:ext cx="2358010" cy="1940062"/>
          </a:xfrm>
          <a:prstGeom prst="bentArrow">
            <a:avLst>
              <a:gd name="adj1" fmla="val 7325"/>
              <a:gd name="adj2" fmla="val 10026"/>
              <a:gd name="adj3" fmla="val 25000"/>
              <a:gd name="adj4" fmla="val 5418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E65FE92-4CB8-C181-E460-447D7E1AB7BB}"/>
              </a:ext>
            </a:extLst>
          </p:cNvPr>
          <p:cNvSpPr/>
          <p:nvPr/>
        </p:nvSpPr>
        <p:spPr>
          <a:xfrm>
            <a:off x="7440519" y="891657"/>
            <a:ext cx="1990725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대표이사</a:t>
            </a:r>
            <a:endParaRPr lang="en-US" altLang="ko-KR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4F05D5F-3AB6-FE2D-CA6A-0445BBFBA364}"/>
              </a:ext>
            </a:extLst>
          </p:cNvPr>
          <p:cNvSpPr/>
          <p:nvPr/>
        </p:nvSpPr>
        <p:spPr>
          <a:xfrm>
            <a:off x="5132576" y="2632263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연구팀</a:t>
            </a:r>
            <a:endParaRPr lang="en-US" altLang="ko-KR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7809811-408E-F6EE-99F6-CEAB89D5D25D}"/>
              </a:ext>
            </a:extLst>
          </p:cNvPr>
          <p:cNvSpPr/>
          <p:nvPr/>
        </p:nvSpPr>
        <p:spPr>
          <a:xfrm>
            <a:off x="6784229" y="2632263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분석팀</a:t>
            </a:r>
            <a:endParaRPr lang="en-US" altLang="ko-KR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89C0BA-FD5D-5A89-FD99-338D94332AC8}"/>
              </a:ext>
            </a:extLst>
          </p:cNvPr>
          <p:cNvSpPr/>
          <p:nvPr/>
        </p:nvSpPr>
        <p:spPr>
          <a:xfrm>
            <a:off x="8435882" y="2632263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실사팀</a:t>
            </a:r>
            <a:endParaRPr lang="en-US" altLang="ko-KR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E3501BC-2095-859E-C0D7-A3DFCA8640F6}"/>
              </a:ext>
            </a:extLst>
          </p:cNvPr>
          <p:cNvSpPr/>
          <p:nvPr/>
        </p:nvSpPr>
        <p:spPr>
          <a:xfrm>
            <a:off x="10087535" y="2632263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부설연구소</a:t>
            </a:r>
            <a:endParaRPr lang="en-US" altLang="ko-KR" dirty="0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17944969-4C0D-175B-FD17-69D704840B02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rot="5400000">
            <a:off x="6512462" y="708843"/>
            <a:ext cx="1302456" cy="254438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900FBD0F-1E91-E64D-EADB-D1081960AE6A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 rot="5400000">
            <a:off x="7338288" y="1534669"/>
            <a:ext cx="1302456" cy="89273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3EC2B3D4-6804-8611-2CD4-E9C6D346CB85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 rot="16200000" flipH="1">
            <a:off x="8164114" y="1601574"/>
            <a:ext cx="1302456" cy="75892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4BABFF06-B7F9-ACF1-996C-7A8546671B0A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 rot="16200000" flipH="1">
            <a:off x="8989941" y="775748"/>
            <a:ext cx="1302456" cy="241057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420E783-3FD6-F1EC-1E45-DEAAA72B5C55}"/>
              </a:ext>
            </a:extLst>
          </p:cNvPr>
          <p:cNvSpPr/>
          <p:nvPr/>
        </p:nvSpPr>
        <p:spPr>
          <a:xfrm>
            <a:off x="5891496" y="1415531"/>
            <a:ext cx="1517841" cy="43815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분야별 </a:t>
            </a:r>
            <a:r>
              <a:rPr lang="ko-KR" altLang="en-US" sz="1200" dirty="0"/>
              <a:t>자문위원</a:t>
            </a:r>
            <a:endParaRPr lang="en-US" altLang="ko-KR" sz="12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CBDC35B-B5CF-F85C-98C2-9EFBEEC018DB}"/>
              </a:ext>
            </a:extLst>
          </p:cNvPr>
          <p:cNvSpPr/>
          <p:nvPr/>
        </p:nvSpPr>
        <p:spPr>
          <a:xfrm>
            <a:off x="9593642" y="1409535"/>
            <a:ext cx="1517841" cy="4381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경영지원팀</a:t>
            </a:r>
            <a:endParaRPr lang="en-US" altLang="ko-KR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0B0A20C-8BCD-8D31-4B87-BC028A9FE3F3}"/>
              </a:ext>
            </a:extLst>
          </p:cNvPr>
          <p:cNvSpPr/>
          <p:nvPr/>
        </p:nvSpPr>
        <p:spPr>
          <a:xfrm>
            <a:off x="5132575" y="3190876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공공분야</a:t>
            </a:r>
            <a:endParaRPr lang="en-US" altLang="ko-KR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C4F90B2-5DA4-D4BD-BE77-3DE00ECA8583}"/>
              </a:ext>
            </a:extLst>
          </p:cNvPr>
          <p:cNvSpPr/>
          <p:nvPr/>
        </p:nvSpPr>
        <p:spPr>
          <a:xfrm>
            <a:off x="5132574" y="3692339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마케팅분야</a:t>
            </a:r>
            <a:endParaRPr lang="en-US" altLang="ko-KR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30D7F6E-1A26-99F9-10EF-98130A168646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 flipV="1">
            <a:off x="7409337" y="1628610"/>
            <a:ext cx="2184305" cy="59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909B8730-BF11-5AC5-611C-492F524B9FE2}"/>
              </a:ext>
            </a:extLst>
          </p:cNvPr>
          <p:cNvSpPr/>
          <p:nvPr/>
        </p:nvSpPr>
        <p:spPr>
          <a:xfrm>
            <a:off x="8435882" y="3132138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서울본사</a:t>
            </a:r>
            <a:endParaRPr lang="en-US" altLang="ko-KR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4A755FD-CDC5-1A7C-4167-73E1CF65191E}"/>
              </a:ext>
            </a:extLst>
          </p:cNvPr>
          <p:cNvSpPr/>
          <p:nvPr/>
        </p:nvSpPr>
        <p:spPr>
          <a:xfrm>
            <a:off x="8435881" y="3633601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대구지점</a:t>
            </a:r>
            <a:endParaRPr lang="en-US" altLang="ko-KR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DF12D497-78C4-D298-98AC-8C1DBD2844E9}"/>
              </a:ext>
            </a:extLst>
          </p:cNvPr>
          <p:cNvSpPr/>
          <p:nvPr/>
        </p:nvSpPr>
        <p:spPr>
          <a:xfrm>
            <a:off x="6784229" y="3197863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QC</a:t>
            </a:r>
            <a:r>
              <a:rPr lang="ko-KR" altLang="en-US" dirty="0"/>
              <a:t>팀</a:t>
            </a:r>
            <a:endParaRPr lang="en-US" altLang="ko-KR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F4B7046-C5B8-69C2-C8C2-611211ABFD09}"/>
              </a:ext>
            </a:extLst>
          </p:cNvPr>
          <p:cNvSpPr/>
          <p:nvPr/>
        </p:nvSpPr>
        <p:spPr>
          <a:xfrm>
            <a:off x="6784226" y="3692339"/>
            <a:ext cx="1517841" cy="43815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통계분석</a:t>
            </a:r>
            <a:endParaRPr lang="en-US" altLang="ko-K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75BC76-6A47-7410-70BD-490516882778}"/>
              </a:ext>
            </a:extLst>
          </p:cNvPr>
          <p:cNvSpPr txBox="1"/>
          <p:nvPr/>
        </p:nvSpPr>
        <p:spPr>
          <a:xfrm>
            <a:off x="5132574" y="4331826"/>
            <a:ext cx="5211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이름을 걸 수 있는 자문위원이 있다면 아래 나열해도 좋음</a:t>
            </a:r>
            <a:endParaRPr lang="ko-KR" altLang="en-US" sz="14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9C8FEFB-A733-F979-576A-B187B88442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096"/>
          <a:stretch>
            <a:fillRect/>
          </a:stretch>
        </p:blipFill>
        <p:spPr>
          <a:xfrm>
            <a:off x="5132574" y="4657264"/>
            <a:ext cx="5534849" cy="19400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324473-AC5C-700A-9736-1942433FCC5D}"/>
              </a:ext>
            </a:extLst>
          </p:cNvPr>
          <p:cNvSpPr txBox="1"/>
          <p:nvPr/>
        </p:nvSpPr>
        <p:spPr>
          <a:xfrm>
            <a:off x="131999" y="4506311"/>
            <a:ext cx="4055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연구팀 프로필 및 사진이 들어간다면 여기에 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94F9BCEC-CAB8-5527-D02D-A4BAC6E05F2F}"/>
              </a:ext>
            </a:extLst>
          </p:cNvPr>
          <p:cNvSpPr/>
          <p:nvPr/>
        </p:nvSpPr>
        <p:spPr>
          <a:xfrm rot="20414369" flipV="1">
            <a:off x="3852152" y="4373036"/>
            <a:ext cx="1207298" cy="16439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913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A3CB3-BF25-13D8-F96C-43802665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FAF2767-D333-ED80-7E73-682759D81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9" y="352222"/>
            <a:ext cx="4453366" cy="2112760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AED53C75-C6D4-32F6-C2DC-D60961233974}"/>
              </a:ext>
            </a:extLst>
          </p:cNvPr>
          <p:cNvSpPr/>
          <p:nvPr/>
        </p:nvSpPr>
        <p:spPr>
          <a:xfrm rot="5400000" flipV="1">
            <a:off x="1039295" y="2150181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A003F-1112-FD40-EA9E-279BE3D21085}"/>
              </a:ext>
            </a:extLst>
          </p:cNvPr>
          <p:cNvSpPr txBox="1"/>
          <p:nvPr/>
        </p:nvSpPr>
        <p:spPr>
          <a:xfrm>
            <a:off x="827278" y="2620599"/>
            <a:ext cx="47353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추가</a:t>
            </a:r>
            <a:r>
              <a:rPr lang="en-US" altLang="ko-KR" sz="1400" dirty="0"/>
              <a:t>:</a:t>
            </a:r>
          </a:p>
          <a:p>
            <a:r>
              <a:rPr lang="ko-KR" altLang="en-US" sz="1400" dirty="0"/>
              <a:t>조사방법</a:t>
            </a:r>
            <a:endParaRPr lang="en-US" altLang="ko-KR" sz="1400" dirty="0"/>
          </a:p>
          <a:p>
            <a:r>
              <a:rPr lang="ko-KR" altLang="en-US" sz="1400" dirty="0"/>
              <a:t>우측과 같이 </a:t>
            </a:r>
            <a:r>
              <a:rPr lang="en-US" altLang="ko-KR" sz="1400" dirty="0"/>
              <a:t>KDW</a:t>
            </a:r>
            <a:r>
              <a:rPr lang="ko-KR" altLang="en-US" sz="1400" dirty="0"/>
              <a:t>에서 수행 가능한 조사방법 소개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간략한 일러스트 추가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9E41D4-5736-DCE7-4BE2-E8B52E3459AC}"/>
              </a:ext>
            </a:extLst>
          </p:cNvPr>
          <p:cNvSpPr txBox="1"/>
          <p:nvPr/>
        </p:nvSpPr>
        <p:spPr>
          <a:xfrm>
            <a:off x="5467779" y="182017"/>
            <a:ext cx="6096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sz="1400" dirty="0"/>
              <a:t>정량조사 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면접조사 (</a:t>
            </a:r>
            <a:r>
              <a:rPr lang="ko-KR" altLang="ko-KR" sz="1400" dirty="0" err="1"/>
              <a:t>F-to-F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Interview</a:t>
            </a:r>
            <a:r>
              <a:rPr lang="ko-KR" altLang="ko-KR" sz="1400" dirty="0"/>
              <a:t>)</a:t>
            </a:r>
            <a:br>
              <a:rPr lang="ko-KR" altLang="ko-KR" sz="1400" dirty="0"/>
            </a:br>
            <a:r>
              <a:rPr lang="ko-KR" altLang="ko-KR" sz="1400" dirty="0"/>
              <a:t>조사원이 응답자를 직접 만나 설문을 진행하는 대면 조사 방식입니다. 복잡한 질문이나 시각자료 제시가 필요한 조사, 응답 신뢰도가 특히 중요한 조사에 적합합니다.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전화조사</a:t>
            </a:r>
            <a:br>
              <a:rPr lang="ko-KR" altLang="ko-KR" sz="1400" dirty="0"/>
            </a:br>
            <a:r>
              <a:rPr lang="ko-KR" altLang="ko-KR" sz="1400" dirty="0"/>
              <a:t>조사원이 전화로 응답자에게 직접 질문하는 방식입니다. 빠른 시일 내 다수의 응답을 확보해야 하거나, 전국 단위로 넓은 지역을 대상으로 조사할 때 효율적입니다.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온라인 조사 (웹/모바일)</a:t>
            </a:r>
            <a:br>
              <a:rPr lang="ko-KR" altLang="ko-KR" sz="1400" dirty="0"/>
            </a:br>
            <a:r>
              <a:rPr lang="ko-KR" altLang="ko-KR" sz="1400" dirty="0"/>
              <a:t>웹이나 모바일 화면을 통해 응답자가 직접 설문에 응답하는 방식입니다. 비용과 시간 효율이 높고, </a:t>
            </a:r>
            <a:r>
              <a:rPr lang="ko-KR" altLang="ko-KR" sz="1400" dirty="0" err="1"/>
              <a:t>이미지·동영상</a:t>
            </a:r>
            <a:r>
              <a:rPr lang="ko-KR" altLang="ko-KR" sz="1400" dirty="0"/>
              <a:t> 등 다양한 자료를 활용한 설문 설계가 가능합니다.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/>
              <a:t>ARS 조사</a:t>
            </a:r>
            <a:br>
              <a:rPr lang="ko-KR" altLang="ko-KR" sz="1400" dirty="0"/>
            </a:br>
            <a:r>
              <a:rPr lang="ko-KR" altLang="ko-KR" sz="1400" dirty="0"/>
              <a:t>자동응답시스템(ARS)을 통해 응답자가 전화기 버튼으로 답변하는 방식입니다. 짧고 간단한 문항을 대규모로, 빠르게 조사해야 할 때 효과적입니다.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en-US" sz="1400" dirty="0"/>
              <a:t>정성조사</a:t>
            </a:r>
            <a:endParaRPr lang="en-US" altLang="ko-KR" sz="1400" dirty="0"/>
          </a:p>
          <a:p>
            <a:pPr rtl="0">
              <a:buNone/>
            </a:pPr>
            <a:r>
              <a:rPr lang="ko-KR" altLang="ko-KR" sz="1400" dirty="0" err="1"/>
              <a:t>In-depth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Interview</a:t>
            </a:r>
            <a:r>
              <a:rPr lang="ko-KR" altLang="ko-KR" sz="1400" dirty="0"/>
              <a:t> (IDI: 심층면접)</a:t>
            </a:r>
            <a:br>
              <a:rPr lang="ko-KR" altLang="ko-KR" sz="1400" dirty="0"/>
            </a:br>
            <a:r>
              <a:rPr lang="ko-KR" altLang="ko-KR" sz="1400" dirty="0"/>
              <a:t>전문 면접원이 응답자 한 명과 깊이 있는 대화를 나누며 생각과 경험을 자세히 파악하는 방식입니다. 숫자로 드러나지 않는 배경과 맥락을 이해해야 할 때 활용합니다.</a:t>
            </a:r>
          </a:p>
          <a:p>
            <a:pPr rtl="0">
              <a:buNone/>
            </a:pPr>
            <a:endParaRPr lang="en-US" altLang="ko-KR" sz="1400" dirty="0"/>
          </a:p>
          <a:p>
            <a:pPr rtl="0">
              <a:buNone/>
            </a:pPr>
            <a:r>
              <a:rPr lang="ko-KR" altLang="ko-KR" sz="1400" dirty="0" err="1"/>
              <a:t>Focus</a:t>
            </a:r>
            <a:r>
              <a:rPr lang="ko-KR" altLang="ko-KR" sz="1400" dirty="0"/>
              <a:t> Group </a:t>
            </a:r>
            <a:r>
              <a:rPr lang="ko-KR" altLang="ko-KR" sz="1400" dirty="0" err="1"/>
              <a:t>Interview</a:t>
            </a:r>
            <a:r>
              <a:rPr lang="ko-KR" altLang="ko-KR" sz="1400" dirty="0"/>
              <a:t> (FGI: 집단심층토의)</a:t>
            </a:r>
            <a:br>
              <a:rPr lang="ko-KR" altLang="ko-KR" sz="1400" dirty="0"/>
            </a:br>
            <a:r>
              <a:rPr lang="ko-KR" altLang="ko-KR" sz="1400" dirty="0"/>
              <a:t>소수의 참여자가 한 자리에 모여 특정 주제에 대해 자유롭게 토의하는 방식입니다. 참여자 간 의견 교환 속에서 새로운 아이디어나 다양한 관점을 발굴할 때 적합합니다.</a:t>
            </a:r>
          </a:p>
        </p:txBody>
      </p:sp>
      <p:pic>
        <p:nvPicPr>
          <p:cNvPr id="26" name="그림 25" descr="개인 인터뷰 설문 조사 색상 아이콘입니다 대면 설문 조사 사회 연구 고객 만족 피드백 평가 데이터 수집 사회학 격리 벡터 일러스트레이션  개념에 대한 스톡 벡터 아트 및 기타 이미지 - iStock">
            <a:extLst>
              <a:ext uri="{FF2B5EF4-FFF2-40B4-BE49-F238E27FC236}">
                <a16:creationId xmlns:a16="http://schemas.microsoft.com/office/drawing/2014/main" id="{C6629479-4AC2-3922-FDA8-B64A3B552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342" y="4492925"/>
            <a:ext cx="993475" cy="993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BE08C4-32DF-C9E7-ABCD-DCC58B9BBED6}"/>
              </a:ext>
            </a:extLst>
          </p:cNvPr>
          <p:cNvSpPr txBox="1"/>
          <p:nvPr/>
        </p:nvSpPr>
        <p:spPr>
          <a:xfrm>
            <a:off x="7200140" y="1174633"/>
            <a:ext cx="4735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고객사례 추가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92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9C37-B496-A9B3-BFCA-A62EE24E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C2B7C38-23E9-A030-6E71-CFF41371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9" y="352222"/>
            <a:ext cx="4453366" cy="2112760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770B0CA-FB0E-A174-B924-1EC2827EA846}"/>
              </a:ext>
            </a:extLst>
          </p:cNvPr>
          <p:cNvSpPr/>
          <p:nvPr/>
        </p:nvSpPr>
        <p:spPr>
          <a:xfrm rot="5400000" flipV="1">
            <a:off x="1515545" y="2255432"/>
            <a:ext cx="369336" cy="4191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8BBFE-B198-1542-870D-D22DC3024443}"/>
              </a:ext>
            </a:extLst>
          </p:cNvPr>
          <p:cNvSpPr txBox="1"/>
          <p:nvPr/>
        </p:nvSpPr>
        <p:spPr>
          <a:xfrm>
            <a:off x="855853" y="2844224"/>
            <a:ext cx="473532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현재는 질문 방식만 보여주고 있는데 특수 설문에 대한</a:t>
            </a:r>
            <a:endParaRPr lang="en-US" altLang="ko-KR" sz="1400" dirty="0"/>
          </a:p>
          <a:p>
            <a:r>
              <a:rPr lang="ko-KR" altLang="en-US" sz="1400" dirty="0"/>
              <a:t>간략한 정보를 주는 것이 방문자들의 이해를 높이는데</a:t>
            </a:r>
            <a:endParaRPr lang="en-US" altLang="ko-KR" sz="1400" dirty="0"/>
          </a:p>
          <a:p>
            <a:r>
              <a:rPr lang="ko-KR" altLang="en-US" sz="1400" dirty="0"/>
              <a:t>도움이 될 것 같음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기존의 설문 화면 예시에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다음페이지에 있는 분석 목적 및 활용 방법 추가</a:t>
            </a:r>
          </a:p>
        </p:txBody>
      </p:sp>
      <p:sp>
        <p:nvSpPr>
          <p:cNvPr id="5" name="화살표: 굽음 4">
            <a:extLst>
              <a:ext uri="{FF2B5EF4-FFF2-40B4-BE49-F238E27FC236}">
                <a16:creationId xmlns:a16="http://schemas.microsoft.com/office/drawing/2014/main" id="{04E85724-3177-BB03-5BCD-38304EA0E345}"/>
              </a:ext>
            </a:extLst>
          </p:cNvPr>
          <p:cNvSpPr/>
          <p:nvPr/>
        </p:nvSpPr>
        <p:spPr>
          <a:xfrm flipV="1">
            <a:off x="2645836" y="2227520"/>
            <a:ext cx="3193417" cy="422130"/>
          </a:xfrm>
          <a:prstGeom prst="bentArrow">
            <a:avLst>
              <a:gd name="adj1" fmla="val 20052"/>
              <a:gd name="adj2" fmla="val 30955"/>
              <a:gd name="adj3" fmla="val 25000"/>
              <a:gd name="adj4" fmla="val 5418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8314682-06DD-3F79-F92D-C73EDED7A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317" y="1819955"/>
            <a:ext cx="4192316" cy="32180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DF6881-FF9D-4A5A-1F1A-DEE0660DAEF8}"/>
              </a:ext>
            </a:extLst>
          </p:cNvPr>
          <p:cNvSpPr txBox="1"/>
          <p:nvPr/>
        </p:nvSpPr>
        <p:spPr>
          <a:xfrm>
            <a:off x="6571317" y="5301674"/>
            <a:ext cx="47353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첫화면에</a:t>
            </a:r>
            <a:r>
              <a:rPr lang="ko-KR" altLang="en-US" sz="1400" dirty="0"/>
              <a:t> 있는 플랫폼 관련 이미지는 이곳에서 활용해서</a:t>
            </a:r>
            <a:endParaRPr lang="en-US" altLang="ko-KR" sz="1400" dirty="0"/>
          </a:p>
          <a:p>
            <a:r>
              <a:rPr lang="ko-KR" altLang="en-US" sz="1400" dirty="0"/>
              <a:t>우리가 보유한 플랫폼이 이런 기능이 있다고 설명해주면</a:t>
            </a:r>
            <a:endParaRPr lang="en-US" altLang="ko-KR" sz="1400" dirty="0"/>
          </a:p>
          <a:p>
            <a:r>
              <a:rPr lang="ko-KR" altLang="en-US" sz="1400" dirty="0"/>
              <a:t>될 듯</a:t>
            </a:r>
          </a:p>
        </p:txBody>
      </p:sp>
    </p:spTree>
    <p:extLst>
      <p:ext uri="{BB962C8B-B14F-4D97-AF65-F5344CB8AC3E}">
        <p14:creationId xmlns:p14="http://schemas.microsoft.com/office/powerpoint/2010/main" val="3177708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  선택실험법 (Choice Experiment)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87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대안 세트 중 하나를 고르게 해, 사람들의 실제 선호를 읽어내는 방법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905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· 왜 쓰나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신제품·신규 서비스의 속성 조합을 설계할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가격을 바꾸면 선택이 얼마나 달라지는지 알아야 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정책·제도의 여러 대안 중 선호를 비교할 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9202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나오나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2316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속성별 중요도 (효용 가중치)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선호되는 최적 조합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조합별 선택확률 시뮬레이션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민감도 구간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과업에 적합해요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2112264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신제품 컨셉테스트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9504" y="562356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89504" y="5623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요금제 설계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55464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55464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대안 비교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AHP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AHP  쌍대비교법 (Analytic Hierarchy Process)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87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개씩 짝지어 비교해, 복잡한 의사결정의 우선순위를 정리하는 방법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905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· 왜 쓰나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사업·정책 대안의 우선순위를 정해야 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성격이 다른 평가 기준을 함께 비교해야 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이해관계자들의 판단을 정량적 근거로 남기고 싶을 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9202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나오나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2316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기준별 상대적 중요도 (가중치)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대안별 최종 우선순위표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일관성 지표(CR)로 신뢰도 확인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과업에 적합해요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투자·사업 우선순위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63240" y="5623560"/>
            <a:ext cx="1764792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63240" y="56235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평가지표 설계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56632" y="562356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56632" y="5623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선정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CVM  조건부가치측정법 (Contingent Valuation Method)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87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시장가격이 없는 것의 가치를, 지불의사금액을 물어 돈으로 환산하는 방법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905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· 왜 쓰나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환경·문화재 등 무형가치를 화폐가치로 보여줘야 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공공사업의 경제적 타당성 근거가 필요할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 인상에 대한 이용자 지불의사를 확인할 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9202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나오나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2316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지불의사금액 (WTP)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사회적 가치 (WTP × 대상인구)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지불의사에 영향을 주는 요인 분석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과업에 적합해요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1764792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예비타당성조사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42032" y="5623560"/>
            <a:ext cx="1764792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42032" y="56235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환경가치 평가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35424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35424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공공요금 타당성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Delphi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Delphi  전문가 합의법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875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전문가에게 같은 질문을 여러 라운드 반복해, 의견을 합의점으로 모으는 방법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9050">
            <a:solidFill>
              <a:srgbClr val="EA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· 왜 쓰나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부족한 미래 예측 주제를 다룰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분야를 잘 아는 전문가의 판단이 꼭 필요할 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의견에 좌우되지 않는 결론이 필요할 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9202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나오나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2316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합의된 전망·판단치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간 의견 일치도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라운드별 의견 변화와 근거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과업에 적합해요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기술·산업 전망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15768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15768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방향 설정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82896" y="562356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82896" y="5623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우선순위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383A61-7081-1D5B-CF53-DEBD13240F1E}"/>
              </a:ext>
            </a:extLst>
          </p:cNvPr>
          <p:cNvSpPr txBox="1"/>
          <p:nvPr/>
        </p:nvSpPr>
        <p:spPr>
          <a:xfrm>
            <a:off x="3236106" y="1263650"/>
            <a:ext cx="55800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CMS</a:t>
            </a:r>
            <a:r>
              <a:rPr lang="ko-KR" altLang="en-US" dirty="0">
                <a:solidFill>
                  <a:srgbClr val="FF0000"/>
                </a:solidFill>
              </a:rPr>
              <a:t>를 위해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지속적으로 컨텐츠가 변경될 페이지와 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한번 올리면 </a:t>
            </a:r>
            <a:r>
              <a:rPr lang="ko-KR" altLang="en-US" dirty="0" err="1">
                <a:solidFill>
                  <a:srgbClr val="FF0000"/>
                </a:solidFill>
              </a:rPr>
              <a:t>바뀔일이</a:t>
            </a:r>
            <a:r>
              <a:rPr lang="ko-KR" altLang="en-US" dirty="0">
                <a:solidFill>
                  <a:srgbClr val="FF0000"/>
                </a:solidFill>
              </a:rPr>
              <a:t> 없는 페이지 구분 필요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다음주 중 전달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69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1369</Words>
  <Application>Microsoft Office PowerPoint</Application>
  <PresentationFormat>와이드스크린</PresentationFormat>
  <Paragraphs>220</Paragraphs>
  <Slides>16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함초롬바탕</vt:lpstr>
      <vt:lpstr>휴먼명조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kdw</dc:creator>
  <cp:lastModifiedBy>kdw</cp:lastModifiedBy>
  <cp:revision>12</cp:revision>
  <dcterms:created xsi:type="dcterms:W3CDTF">2026-09-14T08:54:38Z</dcterms:created>
  <dcterms:modified xsi:type="dcterms:W3CDTF">2026-10-01T07:44:31Z</dcterms:modified>
</cp:coreProperties>
</file>